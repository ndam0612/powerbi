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9" r:id="rId5"/>
    <p:sldId id="270" r:id="rId6"/>
    <p:sldId id="274" r:id="rId7"/>
    <p:sldId id="271" r:id="rId8"/>
    <p:sldId id="273" r:id="rId9"/>
    <p:sldId id="275" r:id="rId10"/>
    <p:sldId id="280" r:id="rId11"/>
    <p:sldId id="276" r:id="rId12"/>
    <p:sldId id="277" r:id="rId13"/>
    <p:sldId id="284" r:id="rId14"/>
    <p:sldId id="278" r:id="rId15"/>
    <p:sldId id="285" r:id="rId16"/>
    <p:sldId id="279" r:id="rId17"/>
    <p:sldId id="286" r:id="rId18"/>
    <p:sldId id="281" r:id="rId19"/>
    <p:sldId id="282" r:id="rId20"/>
    <p:sldId id="287" r:id="rId21"/>
    <p:sldId id="283" r:id="rId22"/>
    <p:sldId id="288" r:id="rId23"/>
    <p:sldId id="290" r:id="rId24"/>
    <p:sldId id="289" r:id="rId25"/>
    <p:sldId id="291" r:id="rId26"/>
    <p:sldId id="292" r:id="rId2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54B"/>
    <a:srgbClr val="3A2B7B"/>
    <a:srgbClr val="010511"/>
    <a:srgbClr val="263247"/>
    <a:srgbClr val="DA0711"/>
    <a:srgbClr val="F9F3E8"/>
    <a:srgbClr val="EEE9E0"/>
    <a:srgbClr val="F6D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/>
    <p:restoredTop sz="96327"/>
  </p:normalViewPr>
  <p:slideViewPr>
    <p:cSldViewPr snapToGrid="0">
      <p:cViewPr varScale="1">
        <p:scale>
          <a:sx n="74" d="100"/>
          <a:sy n="74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FA2B-D538-4862-A814-E90D5BDBE961}" type="datetimeFigureOut">
              <a:rPr lang="es-419" smtClean="0"/>
              <a:t>27/6/2026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823F5-A612-4D8B-B084-8C1D0D1E5F2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621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17DA833-6211-AE0D-939C-F1FBDFCEA3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24330" y="0"/>
            <a:ext cx="6143339" cy="68580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758DD7D-C741-9C28-36B5-8A51CF97C3E8}"/>
              </a:ext>
            </a:extLst>
          </p:cNvPr>
          <p:cNvSpPr/>
          <p:nvPr userDrawn="1"/>
        </p:nvSpPr>
        <p:spPr>
          <a:xfrm>
            <a:off x="177799" y="198120"/>
            <a:ext cx="11836400" cy="6461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829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CB18B89-F368-029C-F3DC-DB0F62A42F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16B6023-510A-4169-021B-1906F62E2D11}"/>
              </a:ext>
            </a:extLst>
          </p:cNvPr>
          <p:cNvSpPr/>
          <p:nvPr userDrawn="1"/>
        </p:nvSpPr>
        <p:spPr>
          <a:xfrm>
            <a:off x="1030941" y="1194649"/>
            <a:ext cx="10036884" cy="3861995"/>
          </a:xfrm>
          <a:prstGeom prst="rect">
            <a:avLst/>
          </a:prstGeom>
          <a:solidFill>
            <a:srgbClr val="F9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EFB4AC-F6C6-94CA-7A6E-48F43303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3" y="1956748"/>
            <a:ext cx="9911379" cy="1325563"/>
          </a:xfrm>
        </p:spPr>
        <p:txBody>
          <a:bodyPr>
            <a:normAutofit/>
          </a:bodyPr>
          <a:lstStyle>
            <a:lvl1pPr algn="ctr">
              <a:defRPr sz="400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C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EB6DB0C-7FC7-AF37-5D51-02287F1BE520}"/>
              </a:ext>
            </a:extLst>
          </p:cNvPr>
          <p:cNvCxnSpPr/>
          <p:nvPr userDrawn="1"/>
        </p:nvCxnSpPr>
        <p:spPr>
          <a:xfrm>
            <a:off x="1688951" y="3429000"/>
            <a:ext cx="8832028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69619-D575-E339-03DC-8336C82E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3471" y="3589067"/>
            <a:ext cx="6122987" cy="10826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4798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F41E03-485D-6F87-4DBC-C78DDD8C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89D7C0F-95BF-7850-2E8B-CE5CBFFA8CC9}"/>
              </a:ext>
            </a:extLst>
          </p:cNvPr>
          <p:cNvGrpSpPr/>
          <p:nvPr userDrawn="1"/>
        </p:nvGrpSpPr>
        <p:grpSpPr>
          <a:xfrm>
            <a:off x="-31311" y="0"/>
            <a:ext cx="10872400" cy="6858000"/>
            <a:chOff x="-9795" y="0"/>
            <a:chExt cx="10872400" cy="6858000"/>
          </a:xfrm>
        </p:grpSpPr>
        <p:sp>
          <p:nvSpPr>
            <p:cNvPr id="8" name="Google Shape;24;p3">
              <a:extLst>
                <a:ext uri="{FF2B5EF4-FFF2-40B4-BE49-F238E27FC236}">
                  <a16:creationId xmlns:a16="http://schemas.microsoft.com/office/drawing/2014/main" id="{2209B550-07F5-9667-DCBF-229FB0CE4AF2}"/>
                </a:ext>
              </a:extLst>
            </p:cNvPr>
            <p:cNvSpPr/>
            <p:nvPr userDrawn="1"/>
          </p:nvSpPr>
          <p:spPr>
            <a:xfrm>
              <a:off x="7130047" y="3257097"/>
              <a:ext cx="1113838" cy="371280"/>
            </a:xfrm>
            <a:prstGeom prst="triangle">
              <a:avLst>
                <a:gd name="adj" fmla="val 32425"/>
              </a:avLst>
            </a:prstGeom>
            <a:solidFill>
              <a:srgbClr val="DA0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9" name="Google Shape;25;p3">
              <a:extLst>
                <a:ext uri="{FF2B5EF4-FFF2-40B4-BE49-F238E27FC236}">
                  <a16:creationId xmlns:a16="http://schemas.microsoft.com/office/drawing/2014/main" id="{AAE351BA-1304-DE86-1C95-31B67AA85AB6}"/>
                </a:ext>
              </a:extLst>
            </p:cNvPr>
            <p:cNvGrpSpPr/>
            <p:nvPr userDrawn="1"/>
          </p:nvGrpSpPr>
          <p:grpSpPr>
            <a:xfrm>
              <a:off x="13089" y="0"/>
              <a:ext cx="10849516" cy="6858000"/>
              <a:chOff x="0" y="-7088"/>
              <a:chExt cx="8661398" cy="5150588"/>
            </a:xfrm>
            <a:solidFill>
              <a:srgbClr val="B8B6B7"/>
            </a:solidFill>
          </p:grpSpPr>
          <p:sp>
            <p:nvSpPr>
              <p:cNvPr id="13" name="Google Shape;26;p3">
                <a:extLst>
                  <a:ext uri="{FF2B5EF4-FFF2-40B4-BE49-F238E27FC236}">
                    <a16:creationId xmlns:a16="http://schemas.microsoft.com/office/drawing/2014/main" id="{5BDB2A72-93ED-D238-559E-4B3AADB73731}"/>
                  </a:ext>
                </a:extLst>
              </p:cNvPr>
              <p:cNvSpPr/>
              <p:nvPr/>
            </p:nvSpPr>
            <p:spPr>
              <a:xfrm>
                <a:off x="0" y="0"/>
                <a:ext cx="3525000" cy="51435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7;p3">
                <a:extLst>
                  <a:ext uri="{FF2B5EF4-FFF2-40B4-BE49-F238E27FC236}">
                    <a16:creationId xmlns:a16="http://schemas.microsoft.com/office/drawing/2014/main" id="{3B3F88CE-2224-4A71-DDA0-5506729CEC41}"/>
                  </a:ext>
                </a:extLst>
              </p:cNvPr>
              <p:cNvSpPr/>
              <p:nvPr/>
            </p:nvSpPr>
            <p:spPr>
              <a:xfrm rot="10800000" flipH="1">
                <a:off x="3517898" y="-7088"/>
                <a:ext cx="5143500" cy="5143500"/>
              </a:xfrm>
              <a:prstGeom prst="rt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" name="Google Shape;28;p3">
              <a:extLst>
                <a:ext uri="{FF2B5EF4-FFF2-40B4-BE49-F238E27FC236}">
                  <a16:creationId xmlns:a16="http://schemas.microsoft.com/office/drawing/2014/main" id="{3CEFCF14-0E20-56B1-890C-991EDC4EED30}"/>
                </a:ext>
              </a:extLst>
            </p:cNvPr>
            <p:cNvGrpSpPr/>
            <p:nvPr userDrawn="1"/>
          </p:nvGrpSpPr>
          <p:grpSpPr>
            <a:xfrm rot="10800000" flipH="1">
              <a:off x="-9795" y="3628377"/>
              <a:ext cx="8253680" cy="2539414"/>
              <a:chOff x="-9894852" y="-4493255"/>
              <a:chExt cx="21200407" cy="6522741"/>
            </a:xfrm>
            <a:solidFill>
              <a:srgbClr val="E32013"/>
            </a:solidFill>
          </p:grpSpPr>
          <p:sp>
            <p:nvSpPr>
              <p:cNvPr id="11" name="Google Shape;29;p3">
                <a:extLst>
                  <a:ext uri="{FF2B5EF4-FFF2-40B4-BE49-F238E27FC236}">
                    <a16:creationId xmlns:a16="http://schemas.microsoft.com/office/drawing/2014/main" id="{195A1ACE-948D-40ED-35EA-0DEF63C503F2}"/>
                  </a:ext>
                </a:extLst>
              </p:cNvPr>
              <p:cNvSpPr/>
              <p:nvPr/>
            </p:nvSpPr>
            <p:spPr>
              <a:xfrm>
                <a:off x="-9894852" y="-4493114"/>
                <a:ext cx="14685300" cy="6522600"/>
              </a:xfrm>
              <a:prstGeom prst="rect">
                <a:avLst/>
              </a:prstGeom>
              <a:solidFill>
                <a:srgbClr val="F9F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" name="Google Shape;30;p3">
                <a:extLst>
                  <a:ext uri="{FF2B5EF4-FFF2-40B4-BE49-F238E27FC236}">
                    <a16:creationId xmlns:a16="http://schemas.microsoft.com/office/drawing/2014/main" id="{78FAEE62-AA7C-DA72-8763-4C38701DA431}"/>
                  </a:ext>
                </a:extLst>
              </p:cNvPr>
              <p:cNvSpPr/>
              <p:nvPr/>
            </p:nvSpPr>
            <p:spPr>
              <a:xfrm>
                <a:off x="4782956" y="-4493255"/>
                <a:ext cx="6522599" cy="6522600"/>
              </a:xfrm>
              <a:prstGeom prst="rtTriangle">
                <a:avLst/>
              </a:prstGeom>
              <a:solidFill>
                <a:srgbClr val="F9F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BD37BBF-378A-6FA6-D682-6BD1500262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9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6">
            <a:extLst>
              <a:ext uri="{FF2B5EF4-FFF2-40B4-BE49-F238E27FC236}">
                <a16:creationId xmlns:a16="http://schemas.microsoft.com/office/drawing/2014/main" id="{D32336E2-CEAE-874B-42AA-C1F54980E328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rgbClr val="DA0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" name="Google Shape;84;p6">
            <a:extLst>
              <a:ext uri="{FF2B5EF4-FFF2-40B4-BE49-F238E27FC236}">
                <a16:creationId xmlns:a16="http://schemas.microsoft.com/office/drawing/2014/main" id="{DD514A48-2D7D-BE78-5717-CE319A86DA79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chemeClr val="bg1">
              <a:lumMod val="65000"/>
            </a:schemeClr>
          </a:solidFill>
        </p:grpSpPr>
        <p:sp>
          <p:nvSpPr>
            <p:cNvPr id="9" name="Google Shape;85;p6">
              <a:extLst>
                <a:ext uri="{FF2B5EF4-FFF2-40B4-BE49-F238E27FC236}">
                  <a16:creationId xmlns:a16="http://schemas.microsoft.com/office/drawing/2014/main" id="{5B1B42E7-E6EA-2C87-ED19-24D4C13C46D0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Google Shape;86;p6">
              <a:extLst>
                <a:ext uri="{FF2B5EF4-FFF2-40B4-BE49-F238E27FC236}">
                  <a16:creationId xmlns:a16="http://schemas.microsoft.com/office/drawing/2014/main" id="{CDE5856E-56C9-5C7E-0C73-6331942D4BD8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Google Shape;87;p6">
            <a:extLst>
              <a:ext uri="{FF2B5EF4-FFF2-40B4-BE49-F238E27FC236}">
                <a16:creationId xmlns:a16="http://schemas.microsoft.com/office/drawing/2014/main" id="{0C37E960-13EA-E801-7EBE-8AB1B8F364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F9F3E8"/>
          </a:solidFill>
        </p:grpSpPr>
        <p:sp>
          <p:nvSpPr>
            <p:cNvPr id="12" name="Google Shape;88;p6">
              <a:extLst>
                <a:ext uri="{FF2B5EF4-FFF2-40B4-BE49-F238E27FC236}">
                  <a16:creationId xmlns:a16="http://schemas.microsoft.com/office/drawing/2014/main" id="{020A62D6-CAEE-7A03-5DC7-A89ACFA97D8C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3" name="Google Shape;89;p6">
              <a:extLst>
                <a:ext uri="{FF2B5EF4-FFF2-40B4-BE49-F238E27FC236}">
                  <a16:creationId xmlns:a16="http://schemas.microsoft.com/office/drawing/2014/main" id="{F32263FA-7491-227C-34CB-6F4CEC5FB4E1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6">
            <a:extLst>
              <a:ext uri="{FF2B5EF4-FFF2-40B4-BE49-F238E27FC236}">
                <a16:creationId xmlns:a16="http://schemas.microsoft.com/office/drawing/2014/main" id="{D32336E2-CEAE-874B-42AA-C1F54980E328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" name="Google Shape;84;p6">
            <a:extLst>
              <a:ext uri="{FF2B5EF4-FFF2-40B4-BE49-F238E27FC236}">
                <a16:creationId xmlns:a16="http://schemas.microsoft.com/office/drawing/2014/main" id="{DD514A48-2D7D-BE78-5717-CE319A86DA79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rgbClr val="F9F3E8"/>
          </a:solidFill>
        </p:grpSpPr>
        <p:sp>
          <p:nvSpPr>
            <p:cNvPr id="9" name="Google Shape;85;p6">
              <a:extLst>
                <a:ext uri="{FF2B5EF4-FFF2-40B4-BE49-F238E27FC236}">
                  <a16:creationId xmlns:a16="http://schemas.microsoft.com/office/drawing/2014/main" id="{5B1B42E7-E6EA-2C87-ED19-24D4C13C46D0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Google Shape;86;p6">
              <a:extLst>
                <a:ext uri="{FF2B5EF4-FFF2-40B4-BE49-F238E27FC236}">
                  <a16:creationId xmlns:a16="http://schemas.microsoft.com/office/drawing/2014/main" id="{CDE5856E-56C9-5C7E-0C73-6331942D4BD8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Google Shape;87;p6">
            <a:extLst>
              <a:ext uri="{FF2B5EF4-FFF2-40B4-BE49-F238E27FC236}">
                <a16:creationId xmlns:a16="http://schemas.microsoft.com/office/drawing/2014/main" id="{0C37E960-13EA-E801-7EBE-8AB1B8F364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DA0711"/>
          </a:solidFill>
        </p:grpSpPr>
        <p:sp>
          <p:nvSpPr>
            <p:cNvPr id="12" name="Google Shape;88;p6">
              <a:extLst>
                <a:ext uri="{FF2B5EF4-FFF2-40B4-BE49-F238E27FC236}">
                  <a16:creationId xmlns:a16="http://schemas.microsoft.com/office/drawing/2014/main" id="{020A62D6-CAEE-7A03-5DC7-A89ACFA97D8C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3" name="Google Shape;89;p6">
              <a:extLst>
                <a:ext uri="{FF2B5EF4-FFF2-40B4-BE49-F238E27FC236}">
                  <a16:creationId xmlns:a16="http://schemas.microsoft.com/office/drawing/2014/main" id="{F32263FA-7491-227C-34CB-6F4CEC5FB4E1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22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874D97-E97B-C12D-97C1-7C2AD486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E3C8F9-C665-2048-3CBC-0A2B5129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A284FD-3570-FD71-C5DB-C9ACE0D5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  <p:sp>
        <p:nvSpPr>
          <p:cNvPr id="16" name="Google Shape;83;p6">
            <a:extLst>
              <a:ext uri="{FF2B5EF4-FFF2-40B4-BE49-F238E27FC236}">
                <a16:creationId xmlns:a16="http://schemas.microsoft.com/office/drawing/2014/main" id="{FF68A294-84EB-FF94-519C-104251BE0690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rgbClr val="DA0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7" name="Google Shape;84;p6">
            <a:extLst>
              <a:ext uri="{FF2B5EF4-FFF2-40B4-BE49-F238E27FC236}">
                <a16:creationId xmlns:a16="http://schemas.microsoft.com/office/drawing/2014/main" id="{F3B49008-DDE4-8C9E-C850-69D81F7B82A7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chemeClr val="bg1">
              <a:lumMod val="75000"/>
            </a:schemeClr>
          </a:solidFill>
        </p:grpSpPr>
        <p:sp>
          <p:nvSpPr>
            <p:cNvPr id="18" name="Google Shape;85;p6">
              <a:extLst>
                <a:ext uri="{FF2B5EF4-FFF2-40B4-BE49-F238E27FC236}">
                  <a16:creationId xmlns:a16="http://schemas.microsoft.com/office/drawing/2014/main" id="{21A5A2F4-FB26-616E-200A-A480C7E2F385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9" name="Google Shape;86;p6">
              <a:extLst>
                <a:ext uri="{FF2B5EF4-FFF2-40B4-BE49-F238E27FC236}">
                  <a16:creationId xmlns:a16="http://schemas.microsoft.com/office/drawing/2014/main" id="{ECF383FD-E79C-D4E4-5D61-B433ED20A4FB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0" name="Google Shape;87;p6">
            <a:extLst>
              <a:ext uri="{FF2B5EF4-FFF2-40B4-BE49-F238E27FC236}">
                <a16:creationId xmlns:a16="http://schemas.microsoft.com/office/drawing/2014/main" id="{9C8C44B3-0B0C-BCDC-6734-F60CB91C745C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F9F3E8"/>
          </a:solidFill>
        </p:grpSpPr>
        <p:sp>
          <p:nvSpPr>
            <p:cNvPr id="21" name="Google Shape;88;p6">
              <a:extLst>
                <a:ext uri="{FF2B5EF4-FFF2-40B4-BE49-F238E27FC236}">
                  <a16:creationId xmlns:a16="http://schemas.microsoft.com/office/drawing/2014/main" id="{9271F5A0-7AD3-D56C-B4B8-05635CDC96AD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22" name="Google Shape;89;p6">
              <a:extLst>
                <a:ext uri="{FF2B5EF4-FFF2-40B4-BE49-F238E27FC236}">
                  <a16:creationId xmlns:a16="http://schemas.microsoft.com/office/drawing/2014/main" id="{37617CC1-0B6A-9CC3-A77A-40DAA7056FEB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319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CB18B89-F368-029C-F3DC-DB0F62A42F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6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9A67E4-F43C-1960-A586-3AB490EB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A4CD35-A308-0C03-AEA0-AAA8A6B0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AB880A-5358-B291-02A6-DBA6BDAC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199702-B488-35E7-9C36-ABFA8FEBB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118338"/>
            <a:ext cx="3315050" cy="6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6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2D94ED-5173-13E9-E40D-4EF7D988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0542"/>
            <a:ext cx="5259388" cy="437546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D6A67E-1BF9-D1B3-72F8-70BCE2271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08480"/>
            <a:ext cx="5022532" cy="43754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C229AC-5631-D38B-A590-E802FAA0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17C64-FCAB-2FD5-45B3-DAAA2453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6598AF-5B0D-1B4E-909A-D71CB99C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  <p:sp>
        <p:nvSpPr>
          <p:cNvPr id="8" name="Google Shape;83;p6">
            <a:extLst>
              <a:ext uri="{FF2B5EF4-FFF2-40B4-BE49-F238E27FC236}">
                <a16:creationId xmlns:a16="http://schemas.microsoft.com/office/drawing/2014/main" id="{5DDC8DCE-36F8-9EF4-EB58-1D23A0AE84BB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rgbClr val="DA0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9" name="Google Shape;84;p6">
            <a:extLst>
              <a:ext uri="{FF2B5EF4-FFF2-40B4-BE49-F238E27FC236}">
                <a16:creationId xmlns:a16="http://schemas.microsoft.com/office/drawing/2014/main" id="{3A284FB3-269E-E301-BA5E-2D50DC22DA8F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chemeClr val="bg1">
              <a:lumMod val="75000"/>
            </a:schemeClr>
          </a:solidFill>
        </p:grpSpPr>
        <p:sp>
          <p:nvSpPr>
            <p:cNvPr id="10" name="Google Shape;85;p6">
              <a:extLst>
                <a:ext uri="{FF2B5EF4-FFF2-40B4-BE49-F238E27FC236}">
                  <a16:creationId xmlns:a16="http://schemas.microsoft.com/office/drawing/2014/main" id="{2F9356E8-9C1E-CC36-2E79-A9AEF8C5DFBC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1" name="Google Shape;86;p6">
              <a:extLst>
                <a:ext uri="{FF2B5EF4-FFF2-40B4-BE49-F238E27FC236}">
                  <a16:creationId xmlns:a16="http://schemas.microsoft.com/office/drawing/2014/main" id="{261AC62D-0070-0415-BC29-2F42CE6FD85D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2" name="Google Shape;87;p6">
            <a:extLst>
              <a:ext uri="{FF2B5EF4-FFF2-40B4-BE49-F238E27FC236}">
                <a16:creationId xmlns:a16="http://schemas.microsoft.com/office/drawing/2014/main" id="{C490471A-B14A-2E58-7B62-D18B935D4F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F9F3E8"/>
          </a:solidFill>
        </p:grpSpPr>
        <p:sp>
          <p:nvSpPr>
            <p:cNvPr id="13" name="Google Shape;88;p6">
              <a:extLst>
                <a:ext uri="{FF2B5EF4-FFF2-40B4-BE49-F238E27FC236}">
                  <a16:creationId xmlns:a16="http://schemas.microsoft.com/office/drawing/2014/main" id="{2B9A8ABB-EC5B-F0F6-42F1-B2B822D1C0BA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4" name="Google Shape;89;p6">
              <a:extLst>
                <a:ext uri="{FF2B5EF4-FFF2-40B4-BE49-F238E27FC236}">
                  <a16:creationId xmlns:a16="http://schemas.microsoft.com/office/drawing/2014/main" id="{B50A590F-09CD-10C2-6823-AD243C7D301D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55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F1657-3EA2-1C46-E88F-9B3B2192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9248DE-94C5-2CA3-45AE-3E0C63091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3C9715-D1A8-B68D-5B9B-81A29493F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CCE72-0B31-F3C5-6800-2A262160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2A5D7F-E829-7114-012B-674DE5B1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743B7B-DC1F-CBF4-E807-C8DC1EFD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920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2BA5A-E50C-06C7-7D57-B8560370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130DF2-9384-58D4-D24B-52B705DA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48AFF2-07F3-FFBD-8D43-0B0A5616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BFB32-8AD7-C43A-472B-B5816087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FC39C3-BDC8-D7B4-F35D-FFC670AC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743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71E779-8A48-A2E4-DBCF-6555046F8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053189-26DF-3C4A-D13A-D5815A042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28492-B74C-CDE7-3F76-5630C58E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B09771-9A33-CCD4-FC73-9EAF96DF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A6A96-85CC-736D-8117-99251765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03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F728E4-29FC-226B-A241-DE21948A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0B8105-C4C8-2161-E1F4-68E7CD74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DC1C8E-2083-F50C-A877-2D1C4D2B2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F33FA-531E-7248-8795-1AF02465057D}" type="datetimeFigureOut">
              <a:rPr lang="es-EC" smtClean="0"/>
              <a:t>27/6/2026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4A8BCB-8BE4-F489-6063-8726CA944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0C3393-8B94-889F-F29C-B85FDE607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345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1" r:id="rId5"/>
    <p:sldLayoutId id="2147483652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83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D4A00-768E-B4B7-5EB9-7A8C3A9F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solidFill>
                  <a:srgbClr val="263247"/>
                </a:solidFill>
              </a:rPr>
              <a:t>MONITOREO Y EVALUACIÓN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2AA156-B8B9-0E52-935D-7A75503C3E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3471" y="3589068"/>
            <a:ext cx="6122987" cy="500048"/>
          </a:xfrm>
        </p:spPr>
        <p:txBody>
          <a:bodyPr>
            <a:normAutofit fontScale="92500"/>
          </a:bodyPr>
          <a:lstStyle/>
          <a:p>
            <a:r>
              <a:rPr lang="es-419" sz="2400" dirty="0">
                <a:solidFill>
                  <a:srgbClr val="263247"/>
                </a:solidFill>
                <a:latin typeface="+mj-lt"/>
              </a:rPr>
              <a:t>TRANSFORMACIÓN DE DATOS CON IA Y POWER BI</a:t>
            </a:r>
          </a:p>
        </p:txBody>
      </p:sp>
    </p:spTree>
    <p:extLst>
      <p:ext uri="{BB962C8B-B14F-4D97-AF65-F5344CB8AC3E}">
        <p14:creationId xmlns:p14="http://schemas.microsoft.com/office/powerpoint/2010/main" val="382341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518524B3-0F74-C61C-E37C-066DACF5E712}"/>
              </a:ext>
            </a:extLst>
          </p:cNvPr>
          <p:cNvSpPr txBox="1">
            <a:spLocks/>
          </p:cNvSpPr>
          <p:nvPr/>
        </p:nvSpPr>
        <p:spPr>
          <a:xfrm>
            <a:off x="382463" y="4493192"/>
            <a:ext cx="4805986" cy="643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AutoNum type="arabicPeriod"/>
            </a:pPr>
            <a:r>
              <a:rPr lang="es-EC" sz="4400" b="1" dirty="0">
                <a:latin typeface="+mj-lt"/>
              </a:rPr>
              <a:t>INTRODUCCIÓN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El Nuevo Ecosistema de los Datos</a:t>
            </a:r>
          </a:p>
        </p:txBody>
      </p:sp>
    </p:spTree>
    <p:extLst>
      <p:ext uri="{BB962C8B-B14F-4D97-AF65-F5344CB8AC3E}">
        <p14:creationId xmlns:p14="http://schemas.microsoft.com/office/powerpoint/2010/main" val="404093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3;p15">
            <a:extLst>
              <a:ext uri="{FF2B5EF4-FFF2-40B4-BE49-F238E27FC236}">
                <a16:creationId xmlns:a16="http://schemas.microsoft.com/office/drawing/2014/main" id="{FCA5D617-C52B-924F-43C4-7CC1FEFDF462}"/>
              </a:ext>
            </a:extLst>
          </p:cNvPr>
          <p:cNvSpPr txBox="1"/>
          <p:nvPr/>
        </p:nvSpPr>
        <p:spPr>
          <a:xfrm>
            <a:off x="571500" y="3209925"/>
            <a:ext cx="1853803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E320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2.5</a:t>
            </a:r>
            <a:endParaRPr/>
          </a:p>
        </p:txBody>
      </p:sp>
      <p:sp>
        <p:nvSpPr>
          <p:cNvPr id="5" name="Google Shape;104;p15">
            <a:extLst>
              <a:ext uri="{FF2B5EF4-FFF2-40B4-BE49-F238E27FC236}">
                <a16:creationId xmlns:a16="http://schemas.microsoft.com/office/drawing/2014/main" id="{37CDADE3-D22D-7D64-7134-3F2B51CAE563}"/>
              </a:ext>
            </a:extLst>
          </p:cNvPr>
          <p:cNvSpPr txBox="1"/>
          <p:nvPr/>
        </p:nvSpPr>
        <p:spPr>
          <a:xfrm>
            <a:off x="2996803" y="3316634"/>
            <a:ext cx="8623696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Quintillones</a:t>
            </a:r>
            <a:r>
              <a:rPr lang="en-US" sz="27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bytes </a:t>
            </a: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generados</a:t>
            </a:r>
            <a:r>
              <a:rPr lang="en-US" sz="27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diariamente</a:t>
            </a:r>
            <a:endParaRPr dirty="0"/>
          </a:p>
        </p:txBody>
      </p:sp>
      <p:sp>
        <p:nvSpPr>
          <p:cNvPr id="7" name="Google Shape;105;p15">
            <a:extLst>
              <a:ext uri="{FF2B5EF4-FFF2-40B4-BE49-F238E27FC236}">
                <a16:creationId xmlns:a16="http://schemas.microsoft.com/office/drawing/2014/main" id="{C8368E31-58E7-13E0-3166-14F1607C79A7}"/>
              </a:ext>
            </a:extLst>
          </p:cNvPr>
          <p:cNvSpPr txBox="1"/>
          <p:nvPr/>
        </p:nvSpPr>
        <p:spPr>
          <a:xfrm>
            <a:off x="2996803" y="3796605"/>
            <a:ext cx="8623696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reto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es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capturar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dato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sino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convertirlo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 </a:t>
            </a:r>
            <a:r>
              <a:rPr lang="en-US" sz="1800" b="1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estratégico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para la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toma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decisiones</a:t>
            </a:r>
            <a:r>
              <a:rPr lang="en-US" sz="18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9" name="Google Shape;106;p15">
            <a:extLst>
              <a:ext uri="{FF2B5EF4-FFF2-40B4-BE49-F238E27FC236}">
                <a16:creationId xmlns:a16="http://schemas.microsoft.com/office/drawing/2014/main" id="{84DBD800-F6ED-3491-AB27-9FD5C0D508EE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EXPLOSIÓN DE DATOS 2025</a:t>
            </a:r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7B8CE323-923C-B9F9-5C74-60CE03DA40BD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4D4EBC-D6EF-0447-2E33-BBE95C2F8402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0094E04-C91B-6DBB-4C84-36F68353F05E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49163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04736-D85C-CC9D-E22B-7B6F418F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A947E87-E075-1E2A-55AB-7AC7163804A4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CDBA191-7E70-9905-71DD-CFD583469E2F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4" name="Google Shape;113;p16" descr="image.png">
            <a:extLst>
              <a:ext uri="{FF2B5EF4-FFF2-40B4-BE49-F238E27FC236}">
                <a16:creationId xmlns:a16="http://schemas.microsoft.com/office/drawing/2014/main" id="{F144AF12-B9CC-E7E0-99F0-AC8E305347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429916"/>
            <a:ext cx="3492549" cy="2893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p16" descr="image.png">
            <a:extLst>
              <a:ext uri="{FF2B5EF4-FFF2-40B4-BE49-F238E27FC236}">
                <a16:creationId xmlns:a16="http://schemas.microsoft.com/office/drawing/2014/main" id="{BBA57569-C273-F16F-AA30-9D3554AB83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2429916"/>
            <a:ext cx="3492549" cy="2893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5;p16" descr="image.png">
            <a:extLst>
              <a:ext uri="{FF2B5EF4-FFF2-40B4-BE49-F238E27FC236}">
                <a16:creationId xmlns:a16="http://schemas.microsoft.com/office/drawing/2014/main" id="{5F306AA5-5357-8EFF-06FD-A07AAAE84D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2429916"/>
            <a:ext cx="3492549" cy="2893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6;p16" descr="image.png">
            <a:extLst>
              <a:ext uri="{FF2B5EF4-FFF2-40B4-BE49-F238E27FC236}">
                <a16:creationId xmlns:a16="http://schemas.microsoft.com/office/drawing/2014/main" id="{187F7A21-F53F-1775-9D24-7BF68AC50A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9575" y="28109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17;p16">
            <a:extLst>
              <a:ext uri="{FF2B5EF4-FFF2-40B4-BE49-F238E27FC236}">
                <a16:creationId xmlns:a16="http://schemas.microsoft.com/office/drawing/2014/main" id="{BCDFDF06-2092-8C10-1E96-6F85E78FF66B}"/>
              </a:ext>
            </a:extLst>
          </p:cNvPr>
          <p:cNvSpPr txBox="1"/>
          <p:nvPr/>
        </p:nvSpPr>
        <p:spPr>
          <a:xfrm>
            <a:off x="884236" y="3477666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ENFOQUE</a:t>
            </a:r>
            <a:endParaRPr/>
          </a:p>
        </p:txBody>
      </p:sp>
      <p:sp>
        <p:nvSpPr>
          <p:cNvPr id="20" name="Google Shape;118;p16">
            <a:extLst>
              <a:ext uri="{FF2B5EF4-FFF2-40B4-BE49-F238E27FC236}">
                <a16:creationId xmlns:a16="http://schemas.microsoft.com/office/drawing/2014/main" id="{96893F93-4171-0F94-BF06-33A15FF24C55}"/>
              </a:ext>
            </a:extLst>
          </p:cNvPr>
          <p:cNvSpPr txBox="1"/>
          <p:nvPr/>
        </p:nvSpPr>
        <p:spPr>
          <a:xfrm>
            <a:off x="952500" y="3925341"/>
            <a:ext cx="27305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Asegura que los recursos se alineen con los objetivos estratégicos.</a:t>
            </a:r>
            <a:endParaRPr/>
          </a:p>
        </p:txBody>
      </p:sp>
      <p:pic>
        <p:nvPicPr>
          <p:cNvPr id="22" name="Google Shape;119;p16" descr="image.png">
            <a:extLst>
              <a:ext uri="{FF2B5EF4-FFF2-40B4-BE49-F238E27FC236}">
                <a16:creationId xmlns:a16="http://schemas.microsoft.com/office/drawing/2014/main" id="{B6DADCF9-F17B-FB84-EFE0-EB9439187D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281091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20;p16">
            <a:extLst>
              <a:ext uri="{FF2B5EF4-FFF2-40B4-BE49-F238E27FC236}">
                <a16:creationId xmlns:a16="http://schemas.microsoft.com/office/drawing/2014/main" id="{B8723710-7544-76D6-4448-8A5E2DBEC75E}"/>
              </a:ext>
            </a:extLst>
          </p:cNvPr>
          <p:cNvSpPr txBox="1"/>
          <p:nvPr/>
        </p:nvSpPr>
        <p:spPr>
          <a:xfrm>
            <a:off x="4662535" y="3477666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MEJORA</a:t>
            </a:r>
            <a:endParaRPr/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867A0A0A-AD82-EEE2-F3D5-0165688C2ACD}"/>
              </a:ext>
            </a:extLst>
          </p:cNvPr>
          <p:cNvSpPr txBox="1"/>
          <p:nvPr/>
        </p:nvSpPr>
        <p:spPr>
          <a:xfrm>
            <a:off x="4730799" y="3925341"/>
            <a:ext cx="27305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Identificación temprana de desviaciones y cuellos de botella.</a:t>
            </a:r>
            <a:endParaRPr/>
          </a:p>
        </p:txBody>
      </p:sp>
      <p:pic>
        <p:nvPicPr>
          <p:cNvPr id="28" name="Google Shape;122;p16" descr="image.png">
            <a:extLst>
              <a:ext uri="{FF2B5EF4-FFF2-40B4-BE49-F238E27FC236}">
                <a16:creationId xmlns:a16="http://schemas.microsoft.com/office/drawing/2014/main" id="{8C63E6BA-08DB-D490-AEA7-F1104EF69A1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74262" y="2810916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23;p16">
            <a:extLst>
              <a:ext uri="{FF2B5EF4-FFF2-40B4-BE49-F238E27FC236}">
                <a16:creationId xmlns:a16="http://schemas.microsoft.com/office/drawing/2014/main" id="{407BB381-47DF-1048-C261-2ED2ABDA0D1B}"/>
              </a:ext>
            </a:extLst>
          </p:cNvPr>
          <p:cNvSpPr txBox="1"/>
          <p:nvPr/>
        </p:nvSpPr>
        <p:spPr>
          <a:xfrm>
            <a:off x="8440835" y="3477666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TRANSPARENCIA</a:t>
            </a:r>
            <a:endParaRPr/>
          </a:p>
        </p:txBody>
      </p:sp>
      <p:sp>
        <p:nvSpPr>
          <p:cNvPr id="32" name="Google Shape;124;p16">
            <a:extLst>
              <a:ext uri="{FF2B5EF4-FFF2-40B4-BE49-F238E27FC236}">
                <a16:creationId xmlns:a16="http://schemas.microsoft.com/office/drawing/2014/main" id="{B01A8B0F-BE60-F548-9578-9C8EB186E4AB}"/>
              </a:ext>
            </a:extLst>
          </p:cNvPr>
          <p:cNvSpPr txBox="1"/>
          <p:nvPr/>
        </p:nvSpPr>
        <p:spPr>
          <a:xfrm>
            <a:off x="8509099" y="3925341"/>
            <a:ext cx="27305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Rendición de cuentas basada en evidencia real, no intuiciones.</a:t>
            </a:r>
            <a:endParaRPr/>
          </a:p>
        </p:txBody>
      </p:sp>
      <p:sp>
        <p:nvSpPr>
          <p:cNvPr id="34" name="Google Shape;125;p16">
            <a:extLst>
              <a:ext uri="{FF2B5EF4-FFF2-40B4-BE49-F238E27FC236}">
                <a16:creationId xmlns:a16="http://schemas.microsoft.com/office/drawing/2014/main" id="{57EF7207-F9C7-B65A-7ECF-0CEB696FB26F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¿POR QUÉ MONITOREO Y EVALUACIÓN?</a:t>
            </a:r>
            <a:endParaRPr/>
          </a:p>
        </p:txBody>
      </p:sp>
      <p:sp>
        <p:nvSpPr>
          <p:cNvPr id="36" name="Google Shape;126;p16">
            <a:extLst>
              <a:ext uri="{FF2B5EF4-FFF2-40B4-BE49-F238E27FC236}">
                <a16:creationId xmlns:a16="http://schemas.microsoft.com/office/drawing/2014/main" id="{D5BE1B9E-EA26-E678-CAD1-DDF2833C8349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5573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25CF-64D8-2059-4AB4-659CA140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F062A3CB-09C9-A891-89D4-1BD27A7C396B}"/>
              </a:ext>
            </a:extLst>
          </p:cNvPr>
          <p:cNvSpPr txBox="1">
            <a:spLocks/>
          </p:cNvSpPr>
          <p:nvPr/>
        </p:nvSpPr>
        <p:spPr>
          <a:xfrm>
            <a:off x="382462" y="4493192"/>
            <a:ext cx="5283551" cy="584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2. CONCEPTOS CLAVE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Del M&amp;E Tradicional al Digital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560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676A1-66CE-53B4-CECD-D9BA7A63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D665287-F8E3-5C9C-A952-D969CE3591F3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56F266-1354-6494-FE6A-ECCC2053765E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140;p18" descr="image.png">
            <a:extLst>
              <a:ext uri="{FF2B5EF4-FFF2-40B4-BE49-F238E27FC236}">
                <a16:creationId xmlns:a16="http://schemas.microsoft.com/office/drawing/2014/main" id="{6A65734D-987B-DB84-445C-B328ABA41FA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53172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1;p18">
            <a:extLst>
              <a:ext uri="{FF2B5EF4-FFF2-40B4-BE49-F238E27FC236}">
                <a16:creationId xmlns:a16="http://schemas.microsoft.com/office/drawing/2014/main" id="{A53B4494-39BF-80CA-9B5E-BCBCD3BE44B2}"/>
              </a:ext>
            </a:extLst>
          </p:cNvPr>
          <p:cNvSpPr txBox="1"/>
          <p:nvPr/>
        </p:nvSpPr>
        <p:spPr>
          <a:xfrm>
            <a:off x="571500" y="241162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MONITOREO (SEGUIMIENTO)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9" name="Google Shape;142;p18">
            <a:extLst>
              <a:ext uri="{FF2B5EF4-FFF2-40B4-BE49-F238E27FC236}">
                <a16:creationId xmlns:a16="http://schemas.microsoft.com/office/drawing/2014/main" id="{C3F97268-BCA8-0C0E-6CA0-04008C36CE3C}"/>
              </a:ext>
            </a:extLst>
          </p:cNvPr>
          <p:cNvSpPr txBox="1"/>
          <p:nvPr/>
        </p:nvSpPr>
        <p:spPr>
          <a:xfrm>
            <a:off x="571500" y="2630697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continuo de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recolección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indicadores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para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comprobar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progreso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11" name="Google Shape;143;p18">
            <a:extLst>
              <a:ext uri="{FF2B5EF4-FFF2-40B4-BE49-F238E27FC236}">
                <a16:creationId xmlns:a16="http://schemas.microsoft.com/office/drawing/2014/main" id="{62B45241-3E21-6587-D007-7A97BE85C044}"/>
              </a:ext>
            </a:extLst>
          </p:cNvPr>
          <p:cNvSpPr txBox="1"/>
          <p:nvPr/>
        </p:nvSpPr>
        <p:spPr>
          <a:xfrm>
            <a:off x="571500" y="344210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EVALUACIÓN (IMPACTO)</a:t>
            </a:r>
            <a:endParaRPr>
              <a:solidFill>
                <a:srgbClr val="263247"/>
              </a:solidFill>
            </a:endParaRPr>
          </a:p>
        </p:txBody>
      </p:sp>
      <p:sp>
        <p:nvSpPr>
          <p:cNvPr id="17" name="Google Shape;144;p18">
            <a:extLst>
              <a:ext uri="{FF2B5EF4-FFF2-40B4-BE49-F238E27FC236}">
                <a16:creationId xmlns:a16="http://schemas.microsoft.com/office/drawing/2014/main" id="{523D2FF0-A0E5-5242-4BA5-408D1EBCA476}"/>
              </a:ext>
            </a:extLst>
          </p:cNvPr>
          <p:cNvSpPr txBox="1"/>
          <p:nvPr/>
        </p:nvSpPr>
        <p:spPr>
          <a:xfrm>
            <a:off x="571500" y="3661182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Valoración sistemática del diseño, implementación y resultados de una intervención.</a:t>
            </a:r>
            <a:endParaRPr/>
          </a:p>
        </p:txBody>
      </p:sp>
      <p:pic>
        <p:nvPicPr>
          <p:cNvPr id="21" name="Google Shape;145;p18" descr="image.png">
            <a:extLst>
              <a:ext uri="{FF2B5EF4-FFF2-40B4-BE49-F238E27FC236}">
                <a16:creationId xmlns:a16="http://schemas.microsoft.com/office/drawing/2014/main" id="{0EA53CF2-8BB4-82F3-F103-E79DC64C25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175" y="154305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46;p18">
            <a:extLst>
              <a:ext uri="{FF2B5EF4-FFF2-40B4-BE49-F238E27FC236}">
                <a16:creationId xmlns:a16="http://schemas.microsoft.com/office/drawing/2014/main" id="{39F61F97-241D-969D-0D7F-8F0781DD5736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M&amp;E BASADO EN DATOS</a:t>
            </a:r>
            <a:endParaRPr/>
          </a:p>
        </p:txBody>
      </p:sp>
      <p:sp>
        <p:nvSpPr>
          <p:cNvPr id="29" name="Google Shape;147;p18">
            <a:extLst>
              <a:ext uri="{FF2B5EF4-FFF2-40B4-BE49-F238E27FC236}">
                <a16:creationId xmlns:a16="http://schemas.microsoft.com/office/drawing/2014/main" id="{5A922A64-25A0-BB07-AFA8-CB0B793C92F1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66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5C4F0-779A-84F5-AF83-B82F3FD1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DCD2E60-A6AB-304C-F0D0-5C45B6235ABF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FD13E53-E2FE-BF4A-E2F7-44E3D09162B2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3" name="Google Shape;153;p19">
            <a:extLst>
              <a:ext uri="{FF2B5EF4-FFF2-40B4-BE49-F238E27FC236}">
                <a16:creationId xmlns:a16="http://schemas.microsoft.com/office/drawing/2014/main" id="{ACF3CCFA-7C1B-3448-4F18-577BDF5C4435}"/>
              </a:ext>
            </a:extLst>
          </p:cNvPr>
          <p:cNvSpPr txBox="1"/>
          <p:nvPr/>
        </p:nvSpPr>
        <p:spPr>
          <a:xfrm>
            <a:off x="1000125" y="236858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Silos de </a:t>
            </a:r>
            <a:r>
              <a:rPr lang="en-US" sz="1800" b="1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Información</a:t>
            </a: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Datos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desconectados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entre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departamentos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(RRHH,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Finanzas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Ventas).</a:t>
            </a:r>
            <a:endParaRPr dirty="0"/>
          </a:p>
        </p:txBody>
      </p:sp>
      <p:sp>
        <p:nvSpPr>
          <p:cNvPr id="5" name="Google Shape;154;p19">
            <a:extLst>
              <a:ext uri="{FF2B5EF4-FFF2-40B4-BE49-F238E27FC236}">
                <a16:creationId xmlns:a16="http://schemas.microsoft.com/office/drawing/2014/main" id="{F48901A6-6951-4225-632A-35C25BBB686E}"/>
              </a:ext>
            </a:extLst>
          </p:cNvPr>
          <p:cNvSpPr txBox="1"/>
          <p:nvPr/>
        </p:nvSpPr>
        <p:spPr>
          <a:xfrm>
            <a:off x="1000125" y="292668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Baja Calidad del Dato: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Errores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Excel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invalidan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análisis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7" name="Google Shape;155;p19">
            <a:extLst>
              <a:ext uri="{FF2B5EF4-FFF2-40B4-BE49-F238E27FC236}">
                <a16:creationId xmlns:a16="http://schemas.microsoft.com/office/drawing/2014/main" id="{A38B088C-7EC2-CE03-16B6-2AC1F77E4A66}"/>
              </a:ext>
            </a:extLst>
          </p:cNvPr>
          <p:cNvSpPr txBox="1"/>
          <p:nvPr/>
        </p:nvSpPr>
        <p:spPr>
          <a:xfrm>
            <a:off x="1000125" y="3484794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Velocidad</a:t>
            </a: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Respuesta: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tardan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semanas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generarse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pierden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relevancia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9" name="Google Shape;156;p19">
            <a:extLst>
              <a:ext uri="{FF2B5EF4-FFF2-40B4-BE49-F238E27FC236}">
                <a16:creationId xmlns:a16="http://schemas.microsoft.com/office/drawing/2014/main" id="{382EC0F9-71C3-06D4-898A-D2C43E8BA5DB}"/>
              </a:ext>
            </a:extLst>
          </p:cNvPr>
          <p:cNvSpPr txBox="1"/>
          <p:nvPr/>
        </p:nvSpPr>
        <p:spPr>
          <a:xfrm>
            <a:off x="1000125" y="4042899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Falta de Cultura </a:t>
            </a:r>
            <a:r>
              <a:rPr lang="en-US" sz="1800" b="1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Analítica</a:t>
            </a:r>
            <a:r>
              <a:rPr lang="en-US" sz="1800" b="1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Resistencia al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cambio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basado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evidencia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11" name="Google Shape;157;p19">
            <a:extLst>
              <a:ext uri="{FF2B5EF4-FFF2-40B4-BE49-F238E27FC236}">
                <a16:creationId xmlns:a16="http://schemas.microsoft.com/office/drawing/2014/main" id="{89AC7C21-A3F2-181C-F070-70429C6CE6FE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DESAFÍOS ACTUALES</a:t>
            </a:r>
            <a:endParaRPr/>
          </a:p>
        </p:txBody>
      </p:sp>
      <p:sp>
        <p:nvSpPr>
          <p:cNvPr id="14" name="Google Shape;158;p19">
            <a:extLst>
              <a:ext uri="{FF2B5EF4-FFF2-40B4-BE49-F238E27FC236}">
                <a16:creationId xmlns:a16="http://schemas.microsoft.com/office/drawing/2014/main" id="{856AF0EE-9B6B-ED6B-6CC4-580712F4D10F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59;p19" descr="image.png">
            <a:extLst>
              <a:ext uri="{FF2B5EF4-FFF2-40B4-BE49-F238E27FC236}">
                <a16:creationId xmlns:a16="http://schemas.microsoft.com/office/drawing/2014/main" id="{E1951BBE-EF8A-A505-9278-044A93B53D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3685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60;p19" descr="image.png">
            <a:extLst>
              <a:ext uri="{FF2B5EF4-FFF2-40B4-BE49-F238E27FC236}">
                <a16:creationId xmlns:a16="http://schemas.microsoft.com/office/drawing/2014/main" id="{9879ED73-A2FB-0EFB-24CF-E7AE04D662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92668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61;p19" descr="image.png">
            <a:extLst>
              <a:ext uri="{FF2B5EF4-FFF2-40B4-BE49-F238E27FC236}">
                <a16:creationId xmlns:a16="http://schemas.microsoft.com/office/drawing/2014/main" id="{1E2B167B-9D12-BAE8-427D-A8E28A5049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34847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62;p19" descr="image.png">
            <a:extLst>
              <a:ext uri="{FF2B5EF4-FFF2-40B4-BE49-F238E27FC236}">
                <a16:creationId xmlns:a16="http://schemas.microsoft.com/office/drawing/2014/main" id="{DA94EE55-00AC-2DB9-CE53-B85415AA3A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404289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4834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4063-8AE1-812B-8360-13633E95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2B041485-DD5B-CEFE-F417-FBD5C958CBE6}"/>
              </a:ext>
            </a:extLst>
          </p:cNvPr>
          <p:cNvSpPr txBox="1">
            <a:spLocks/>
          </p:cNvSpPr>
          <p:nvPr/>
        </p:nvSpPr>
        <p:spPr>
          <a:xfrm>
            <a:off x="382462" y="4117636"/>
            <a:ext cx="7177667" cy="6992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03. INDICADORES ESTRATÉGICOS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Midiendo lo que realmente importa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126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86EB4-8F5E-A1D0-82EE-17F178D6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92B8D60-0B76-39E8-21FB-A31A75F8F308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84557AC-CA7A-AD70-7F3C-A5C65BBAEA44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3" name="Google Shape;176;p21">
            <a:extLst>
              <a:ext uri="{FF2B5EF4-FFF2-40B4-BE49-F238E27FC236}">
                <a16:creationId xmlns:a16="http://schemas.microsoft.com/office/drawing/2014/main" id="{BEF26CFF-AC89-5B1A-54EA-FAC7703A5525}"/>
              </a:ext>
            </a:extLst>
          </p:cNvPr>
          <p:cNvSpPr/>
          <p:nvPr/>
        </p:nvSpPr>
        <p:spPr>
          <a:xfrm>
            <a:off x="571500" y="2285640"/>
            <a:ext cx="11049000" cy="2457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Google Shape;177;p21">
            <a:extLst>
              <a:ext uri="{FF2B5EF4-FFF2-40B4-BE49-F238E27FC236}">
                <a16:creationId xmlns:a16="http://schemas.microsoft.com/office/drawing/2014/main" id="{F11D7E68-65D5-FF80-CB16-8F5B3B29DC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9483671"/>
              </p:ext>
            </p:extLst>
          </p:nvPr>
        </p:nvGraphicFramePr>
        <p:xfrm>
          <a:off x="571500" y="2285640"/>
          <a:ext cx="11049000" cy="24574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5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Atributo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32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Métrica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32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KPI (</a:t>
                      </a:r>
                      <a:r>
                        <a:rPr lang="en-US" sz="1800" b="1" i="0" u="none" strike="noStrike" cap="none" dirty="0" err="1">
                          <a:solidFill>
                            <a:schemeClr val="bg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Indicador</a:t>
                      </a: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Clave)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Definición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Dato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bruto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cuantificable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Indicador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vinculado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a un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objetivo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vital.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Ejemplo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Número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de visitas web.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Tasa de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conversión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clientes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75"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Acción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Informativa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Detonante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decisión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inmediata</a:t>
                      </a:r>
                      <a:r>
                        <a:rPr lang="en-US" sz="1500" b="0" i="0" u="none" strike="noStrike" cap="none" dirty="0">
                          <a:solidFill>
                            <a:srgbClr val="2626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Google Shape;178;p21">
            <a:extLst>
              <a:ext uri="{FF2B5EF4-FFF2-40B4-BE49-F238E27FC236}">
                <a16:creationId xmlns:a16="http://schemas.microsoft.com/office/drawing/2014/main" id="{FAE80C60-7F8B-CCDE-E683-F333012D893B}"/>
              </a:ext>
            </a:extLst>
          </p:cNvPr>
          <p:cNvSpPr/>
          <p:nvPr/>
        </p:nvSpPr>
        <p:spPr>
          <a:xfrm>
            <a:off x="571500" y="3509602"/>
            <a:ext cx="1854547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79;p21">
            <a:extLst>
              <a:ext uri="{FF2B5EF4-FFF2-40B4-BE49-F238E27FC236}">
                <a16:creationId xmlns:a16="http://schemas.microsoft.com/office/drawing/2014/main" id="{70C59E4A-2265-C3A2-F83C-464A990D6210}"/>
              </a:ext>
            </a:extLst>
          </p:cNvPr>
          <p:cNvSpPr/>
          <p:nvPr/>
        </p:nvSpPr>
        <p:spPr>
          <a:xfrm>
            <a:off x="2426047" y="3509602"/>
            <a:ext cx="3709689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80;p21">
            <a:extLst>
              <a:ext uri="{FF2B5EF4-FFF2-40B4-BE49-F238E27FC236}">
                <a16:creationId xmlns:a16="http://schemas.microsoft.com/office/drawing/2014/main" id="{0D7F94F6-FE0E-23AD-0F26-CEC4228E380E}"/>
              </a:ext>
            </a:extLst>
          </p:cNvPr>
          <p:cNvSpPr/>
          <p:nvPr/>
        </p:nvSpPr>
        <p:spPr>
          <a:xfrm>
            <a:off x="6135737" y="3509602"/>
            <a:ext cx="5484762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81;p21">
            <a:extLst>
              <a:ext uri="{FF2B5EF4-FFF2-40B4-BE49-F238E27FC236}">
                <a16:creationId xmlns:a16="http://schemas.microsoft.com/office/drawing/2014/main" id="{F390531D-5104-912A-5BBE-232DA6E6AAB5}"/>
              </a:ext>
            </a:extLst>
          </p:cNvPr>
          <p:cNvSpPr/>
          <p:nvPr/>
        </p:nvSpPr>
        <p:spPr>
          <a:xfrm>
            <a:off x="571500" y="4119202"/>
            <a:ext cx="1854547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82;p21">
            <a:extLst>
              <a:ext uri="{FF2B5EF4-FFF2-40B4-BE49-F238E27FC236}">
                <a16:creationId xmlns:a16="http://schemas.microsoft.com/office/drawing/2014/main" id="{8A4E4762-425F-DF01-A616-BCE7765873C1}"/>
              </a:ext>
            </a:extLst>
          </p:cNvPr>
          <p:cNvSpPr/>
          <p:nvPr/>
        </p:nvSpPr>
        <p:spPr>
          <a:xfrm>
            <a:off x="2426047" y="4119202"/>
            <a:ext cx="3709689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83;p21">
            <a:extLst>
              <a:ext uri="{FF2B5EF4-FFF2-40B4-BE49-F238E27FC236}">
                <a16:creationId xmlns:a16="http://schemas.microsoft.com/office/drawing/2014/main" id="{F943A48B-144A-9F2B-B20F-8802F8298E3D}"/>
              </a:ext>
            </a:extLst>
          </p:cNvPr>
          <p:cNvSpPr/>
          <p:nvPr/>
        </p:nvSpPr>
        <p:spPr>
          <a:xfrm>
            <a:off x="6135737" y="4119202"/>
            <a:ext cx="5484762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84;p21">
            <a:extLst>
              <a:ext uri="{FF2B5EF4-FFF2-40B4-BE49-F238E27FC236}">
                <a16:creationId xmlns:a16="http://schemas.microsoft.com/office/drawing/2014/main" id="{93DDA213-A0D5-3E37-6C7C-9471DC7C4BF3}"/>
              </a:ext>
            </a:extLst>
          </p:cNvPr>
          <p:cNvSpPr/>
          <p:nvPr/>
        </p:nvSpPr>
        <p:spPr>
          <a:xfrm>
            <a:off x="571500" y="4728802"/>
            <a:ext cx="1854547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85;p21">
            <a:extLst>
              <a:ext uri="{FF2B5EF4-FFF2-40B4-BE49-F238E27FC236}">
                <a16:creationId xmlns:a16="http://schemas.microsoft.com/office/drawing/2014/main" id="{9DF325FB-B413-6DCD-32A3-6032F23D8611}"/>
              </a:ext>
            </a:extLst>
          </p:cNvPr>
          <p:cNvSpPr/>
          <p:nvPr/>
        </p:nvSpPr>
        <p:spPr>
          <a:xfrm>
            <a:off x="2426047" y="4728802"/>
            <a:ext cx="3709689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86;p21">
            <a:extLst>
              <a:ext uri="{FF2B5EF4-FFF2-40B4-BE49-F238E27FC236}">
                <a16:creationId xmlns:a16="http://schemas.microsoft.com/office/drawing/2014/main" id="{5CC00BB5-F02C-817F-B934-471544AAB68A}"/>
              </a:ext>
            </a:extLst>
          </p:cNvPr>
          <p:cNvSpPr/>
          <p:nvPr/>
        </p:nvSpPr>
        <p:spPr>
          <a:xfrm>
            <a:off x="6135737" y="4728802"/>
            <a:ext cx="5484762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87;p21">
            <a:extLst>
              <a:ext uri="{FF2B5EF4-FFF2-40B4-BE49-F238E27FC236}">
                <a16:creationId xmlns:a16="http://schemas.microsoft.com/office/drawing/2014/main" id="{FCB9CEE7-BF73-6F40-96E5-3DDE85CF3311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KPI VS. MÉTRICA: LA DIFERENCIA</a:t>
            </a:r>
            <a:endParaRPr dirty="0"/>
          </a:p>
        </p:txBody>
      </p:sp>
      <p:sp>
        <p:nvSpPr>
          <p:cNvPr id="29" name="Google Shape;188;p21">
            <a:extLst>
              <a:ext uri="{FF2B5EF4-FFF2-40B4-BE49-F238E27FC236}">
                <a16:creationId xmlns:a16="http://schemas.microsoft.com/office/drawing/2014/main" id="{5E2067D0-E2C2-90DC-5A98-B08884B80884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356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881CE-1E1B-0B1B-C11B-14543F11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8AA50E6-B635-2ECD-03A5-0BDCDBBCC4AF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65F71BD-C289-89BD-3A2C-EA7A2C08F1F3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4" name="Google Shape;194;p22" descr="image.png">
            <a:extLst>
              <a:ext uri="{FF2B5EF4-FFF2-40B4-BE49-F238E27FC236}">
                <a16:creationId xmlns:a16="http://schemas.microsoft.com/office/drawing/2014/main" id="{24F709DB-D3D2-B9E5-AD66-AB0CF8E511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2382" y="2033737"/>
            <a:ext cx="5286375" cy="27905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5;p22">
            <a:extLst>
              <a:ext uri="{FF2B5EF4-FFF2-40B4-BE49-F238E27FC236}">
                <a16:creationId xmlns:a16="http://schemas.microsoft.com/office/drawing/2014/main" id="{848D781B-898E-0F19-EB75-2D9A5BF57B69}"/>
              </a:ext>
            </a:extLst>
          </p:cNvPr>
          <p:cNvSpPr txBox="1"/>
          <p:nvPr/>
        </p:nvSpPr>
        <p:spPr>
          <a:xfrm>
            <a:off x="1426252" y="2161481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pecifc (Específico)</a:t>
            </a:r>
            <a:endParaRPr/>
          </a:p>
        </p:txBody>
      </p:sp>
      <p:sp>
        <p:nvSpPr>
          <p:cNvPr id="12" name="Google Shape;196;p22">
            <a:extLst>
              <a:ext uri="{FF2B5EF4-FFF2-40B4-BE49-F238E27FC236}">
                <a16:creationId xmlns:a16="http://schemas.microsoft.com/office/drawing/2014/main" id="{973D8B20-1800-7275-201E-6581B5A4523C}"/>
              </a:ext>
            </a:extLst>
          </p:cNvPr>
          <p:cNvSpPr txBox="1"/>
          <p:nvPr/>
        </p:nvSpPr>
        <p:spPr>
          <a:xfrm>
            <a:off x="1426252" y="2719586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easurable (Medible)</a:t>
            </a:r>
            <a:endParaRPr/>
          </a:p>
        </p:txBody>
      </p:sp>
      <p:sp>
        <p:nvSpPr>
          <p:cNvPr id="18" name="Google Shape;197;p22">
            <a:extLst>
              <a:ext uri="{FF2B5EF4-FFF2-40B4-BE49-F238E27FC236}">
                <a16:creationId xmlns:a16="http://schemas.microsoft.com/office/drawing/2014/main" id="{AF4607E7-9625-3F2B-C742-8EE19ED50937}"/>
              </a:ext>
            </a:extLst>
          </p:cNvPr>
          <p:cNvSpPr txBox="1"/>
          <p:nvPr/>
        </p:nvSpPr>
        <p:spPr>
          <a:xfrm>
            <a:off x="1426252" y="3277692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chievable (Alcanzable)</a:t>
            </a:r>
            <a:endParaRPr/>
          </a:p>
        </p:txBody>
      </p:sp>
      <p:sp>
        <p:nvSpPr>
          <p:cNvPr id="22" name="Google Shape;198;p22">
            <a:extLst>
              <a:ext uri="{FF2B5EF4-FFF2-40B4-BE49-F238E27FC236}">
                <a16:creationId xmlns:a16="http://schemas.microsoft.com/office/drawing/2014/main" id="{A4F1AA0C-2213-AC64-A46F-0E3EF97479B2}"/>
              </a:ext>
            </a:extLst>
          </p:cNvPr>
          <p:cNvSpPr txBox="1"/>
          <p:nvPr/>
        </p:nvSpPr>
        <p:spPr>
          <a:xfrm>
            <a:off x="1426252" y="3835797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elevant (Relevante)</a:t>
            </a:r>
            <a:endParaRPr/>
          </a:p>
        </p:txBody>
      </p:sp>
      <p:sp>
        <p:nvSpPr>
          <p:cNvPr id="25" name="Google Shape;199;p22">
            <a:extLst>
              <a:ext uri="{FF2B5EF4-FFF2-40B4-BE49-F238E27FC236}">
                <a16:creationId xmlns:a16="http://schemas.microsoft.com/office/drawing/2014/main" id="{FC3087F5-50D9-F3A0-CFD2-E96FF44EF956}"/>
              </a:ext>
            </a:extLst>
          </p:cNvPr>
          <p:cNvSpPr txBox="1"/>
          <p:nvPr/>
        </p:nvSpPr>
        <p:spPr>
          <a:xfrm>
            <a:off x="1426252" y="4393903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ime-bound (Temporal)</a:t>
            </a:r>
            <a:endParaRPr/>
          </a:p>
        </p:txBody>
      </p:sp>
      <p:sp>
        <p:nvSpPr>
          <p:cNvPr id="27" name="Google Shape;200;p22">
            <a:extLst>
              <a:ext uri="{FF2B5EF4-FFF2-40B4-BE49-F238E27FC236}">
                <a16:creationId xmlns:a16="http://schemas.microsoft.com/office/drawing/2014/main" id="{4FD0F83F-D064-98B1-56E1-72E7541832A6}"/>
              </a:ext>
            </a:extLst>
          </p:cNvPr>
          <p:cNvSpPr txBox="1"/>
          <p:nvPr/>
        </p:nvSpPr>
        <p:spPr>
          <a:xfrm>
            <a:off x="6281846" y="2651646"/>
            <a:ext cx="49506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2013"/>
                </a:solidFill>
                <a:latin typeface="Montserrat"/>
                <a:ea typeface="Montserrat"/>
                <a:cs typeface="Montserrat"/>
                <a:sym typeface="Montserrat"/>
              </a:rPr>
              <a:t>PRO-TIP</a:t>
            </a:r>
            <a:r>
              <a:rPr lang="en-US" sz="1404" b="1" i="0" u="none" strike="noStrike" cap="none" dirty="0">
                <a:solidFill>
                  <a:srgbClr val="E3201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29" name="Google Shape;201;p22">
            <a:extLst>
              <a:ext uri="{FF2B5EF4-FFF2-40B4-BE49-F238E27FC236}">
                <a16:creationId xmlns:a16="http://schemas.microsoft.com/office/drawing/2014/main" id="{0EFC5E91-E22F-06D5-FB41-03FF7654054D}"/>
              </a:ext>
            </a:extLst>
          </p:cNvPr>
          <p:cNvSpPr txBox="1"/>
          <p:nvPr/>
        </p:nvSpPr>
        <p:spPr>
          <a:xfrm>
            <a:off x="6281846" y="2960609"/>
            <a:ext cx="4714875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"Si no se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puede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medir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no se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puede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mejorar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Si se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mide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incorrecto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empeora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innecesario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."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1" name="Google Shape;202;p22">
            <a:extLst>
              <a:ext uri="{FF2B5EF4-FFF2-40B4-BE49-F238E27FC236}">
                <a16:creationId xmlns:a16="http://schemas.microsoft.com/office/drawing/2014/main" id="{757401B2-7317-D732-3815-94CDAEFC4E32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DISEÑO SMART DE INDICADORES</a:t>
            </a:r>
            <a:endParaRPr dirty="0"/>
          </a:p>
        </p:txBody>
      </p:sp>
      <p:sp>
        <p:nvSpPr>
          <p:cNvPr id="33" name="Google Shape;203;p22">
            <a:extLst>
              <a:ext uri="{FF2B5EF4-FFF2-40B4-BE49-F238E27FC236}">
                <a16:creationId xmlns:a16="http://schemas.microsoft.com/office/drawing/2014/main" id="{13A62861-34FD-C883-231B-3A8EFB6E486D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204;p22" descr="image.png">
            <a:extLst>
              <a:ext uri="{FF2B5EF4-FFF2-40B4-BE49-F238E27FC236}">
                <a16:creationId xmlns:a16="http://schemas.microsoft.com/office/drawing/2014/main" id="{B9AFCC81-BD45-352D-02C5-AB5BD36F5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627" y="216148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05;p22" descr="image.png">
            <a:extLst>
              <a:ext uri="{FF2B5EF4-FFF2-40B4-BE49-F238E27FC236}">
                <a16:creationId xmlns:a16="http://schemas.microsoft.com/office/drawing/2014/main" id="{757194BA-AD16-11CC-DD84-8097387C71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627" y="271958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206;p22" descr="image.png">
            <a:extLst>
              <a:ext uri="{FF2B5EF4-FFF2-40B4-BE49-F238E27FC236}">
                <a16:creationId xmlns:a16="http://schemas.microsoft.com/office/drawing/2014/main" id="{25C25024-A60D-6501-D5AA-54DD96BF2D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627" y="32776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207;p22" descr="image.png">
            <a:extLst>
              <a:ext uri="{FF2B5EF4-FFF2-40B4-BE49-F238E27FC236}">
                <a16:creationId xmlns:a16="http://schemas.microsoft.com/office/drawing/2014/main" id="{AD7D1224-21F7-50D4-AA8D-A3848780E2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627" y="383579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208;p22" descr="image.png">
            <a:extLst>
              <a:ext uri="{FF2B5EF4-FFF2-40B4-BE49-F238E27FC236}">
                <a16:creationId xmlns:a16="http://schemas.microsoft.com/office/drawing/2014/main" id="{698A8380-79B2-409B-B1BA-172B5EFEE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627" y="4393903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Elipse 44">
            <a:extLst>
              <a:ext uri="{FF2B5EF4-FFF2-40B4-BE49-F238E27FC236}">
                <a16:creationId xmlns:a16="http://schemas.microsoft.com/office/drawing/2014/main" id="{CFE57D2B-2F1F-D036-649A-CF1A2610833C}"/>
              </a:ext>
            </a:extLst>
          </p:cNvPr>
          <p:cNvSpPr/>
          <p:nvPr/>
        </p:nvSpPr>
        <p:spPr>
          <a:xfrm>
            <a:off x="6096000" y="2222095"/>
            <a:ext cx="284671" cy="28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870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C5CC2-001A-8483-6B55-3665D457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3FAECC-159A-190A-0B62-74F36AFBCE2C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59912D-D24C-72D1-7257-CF2C2F3529B5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214;p23" descr="image.png">
            <a:extLst>
              <a:ext uri="{FF2B5EF4-FFF2-40B4-BE49-F238E27FC236}">
                <a16:creationId xmlns:a16="http://schemas.microsoft.com/office/drawing/2014/main" id="{014B7752-FF71-B630-4E88-28C0799AE8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437507"/>
            <a:ext cx="3492549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5;p23" descr="image.png">
            <a:extLst>
              <a:ext uri="{FF2B5EF4-FFF2-40B4-BE49-F238E27FC236}">
                <a16:creationId xmlns:a16="http://schemas.microsoft.com/office/drawing/2014/main" id="{194E08AF-8331-6A36-EC71-14FDC3291E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2437507"/>
            <a:ext cx="3492549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6;p23" descr="image.png">
            <a:extLst>
              <a:ext uri="{FF2B5EF4-FFF2-40B4-BE49-F238E27FC236}">
                <a16:creationId xmlns:a16="http://schemas.microsoft.com/office/drawing/2014/main" id="{94FC0AC4-27DE-0139-852A-44811F2A6C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2437507"/>
            <a:ext cx="3492549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7;p23" descr="image.png">
            <a:extLst>
              <a:ext uri="{FF2B5EF4-FFF2-40B4-BE49-F238E27FC236}">
                <a16:creationId xmlns:a16="http://schemas.microsoft.com/office/drawing/2014/main" id="{BD9962D9-5E3B-0AB8-8005-CBA51268F1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9575" y="28185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8;p23">
            <a:extLst>
              <a:ext uri="{FF2B5EF4-FFF2-40B4-BE49-F238E27FC236}">
                <a16:creationId xmlns:a16="http://schemas.microsoft.com/office/drawing/2014/main" id="{0633BDA7-0913-D6AF-C14A-F03FE43321B1}"/>
              </a:ext>
            </a:extLst>
          </p:cNvPr>
          <p:cNvSpPr txBox="1"/>
          <p:nvPr/>
        </p:nvSpPr>
        <p:spPr>
          <a:xfrm>
            <a:off x="884236" y="348525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FINANZAS</a:t>
            </a:r>
            <a:endParaRPr/>
          </a:p>
        </p:txBody>
      </p:sp>
      <p:sp>
        <p:nvSpPr>
          <p:cNvPr id="14" name="Google Shape;219;p23">
            <a:extLst>
              <a:ext uri="{FF2B5EF4-FFF2-40B4-BE49-F238E27FC236}">
                <a16:creationId xmlns:a16="http://schemas.microsoft.com/office/drawing/2014/main" id="{4BF117D9-428E-7CFF-BE0A-2ECC3B707E1E}"/>
              </a:ext>
            </a:extLst>
          </p:cNvPr>
          <p:cNvSpPr txBox="1"/>
          <p:nvPr/>
        </p:nvSpPr>
        <p:spPr>
          <a:xfrm>
            <a:off x="952500" y="393293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EBITDA, ROI, Margen Bruto por Producto.</a:t>
            </a:r>
            <a:endParaRPr/>
          </a:p>
        </p:txBody>
      </p:sp>
      <p:pic>
        <p:nvPicPr>
          <p:cNvPr id="17" name="Google Shape;220;p23" descr="image.png">
            <a:extLst>
              <a:ext uri="{FF2B5EF4-FFF2-40B4-BE49-F238E27FC236}">
                <a16:creationId xmlns:a16="http://schemas.microsoft.com/office/drawing/2014/main" id="{B4C53467-39FE-E672-28D8-7544136488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5962" y="281850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21;p23">
            <a:extLst>
              <a:ext uri="{FF2B5EF4-FFF2-40B4-BE49-F238E27FC236}">
                <a16:creationId xmlns:a16="http://schemas.microsoft.com/office/drawing/2014/main" id="{9117DD79-1F03-9A5C-9DBA-F4EF0CFC550D}"/>
              </a:ext>
            </a:extLst>
          </p:cNvPr>
          <p:cNvSpPr txBox="1"/>
          <p:nvPr/>
        </p:nvSpPr>
        <p:spPr>
          <a:xfrm>
            <a:off x="4662535" y="348525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OPERACIONES</a:t>
            </a:r>
            <a:endParaRPr/>
          </a:p>
        </p:txBody>
      </p:sp>
      <p:sp>
        <p:nvSpPr>
          <p:cNvPr id="21" name="Google Shape;222;p23">
            <a:extLst>
              <a:ext uri="{FF2B5EF4-FFF2-40B4-BE49-F238E27FC236}">
                <a16:creationId xmlns:a16="http://schemas.microsoft.com/office/drawing/2014/main" id="{967FA490-58F4-1F46-6E42-57D1DA218DFE}"/>
              </a:ext>
            </a:extLst>
          </p:cNvPr>
          <p:cNvSpPr txBox="1"/>
          <p:nvPr/>
        </p:nvSpPr>
        <p:spPr>
          <a:xfrm>
            <a:off x="4730799" y="393293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Lead Time, OEE, Rotación de Inventario.</a:t>
            </a:r>
            <a:endParaRPr/>
          </a:p>
        </p:txBody>
      </p:sp>
      <p:pic>
        <p:nvPicPr>
          <p:cNvPr id="23" name="Google Shape;223;p23" descr="image.png">
            <a:extLst>
              <a:ext uri="{FF2B5EF4-FFF2-40B4-BE49-F238E27FC236}">
                <a16:creationId xmlns:a16="http://schemas.microsoft.com/office/drawing/2014/main" id="{A4877910-6B80-DBB7-8B82-69838614421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36174" y="28185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24;p23">
            <a:extLst>
              <a:ext uri="{FF2B5EF4-FFF2-40B4-BE49-F238E27FC236}">
                <a16:creationId xmlns:a16="http://schemas.microsoft.com/office/drawing/2014/main" id="{8659C411-7A14-2BD3-DA60-066D4911F618}"/>
              </a:ext>
            </a:extLst>
          </p:cNvPr>
          <p:cNvSpPr txBox="1"/>
          <p:nvPr/>
        </p:nvSpPr>
        <p:spPr>
          <a:xfrm>
            <a:off x="8440835" y="3485257"/>
            <a:ext cx="286707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RECURSOS HUMANOS</a:t>
            </a:r>
            <a:endParaRPr/>
          </a:p>
        </p:txBody>
      </p:sp>
      <p:sp>
        <p:nvSpPr>
          <p:cNvPr id="27" name="Google Shape;225;p23">
            <a:extLst>
              <a:ext uri="{FF2B5EF4-FFF2-40B4-BE49-F238E27FC236}">
                <a16:creationId xmlns:a16="http://schemas.microsoft.com/office/drawing/2014/main" id="{0B5D8EF7-8C71-ECBD-56F6-5E40C8FC6FBC}"/>
              </a:ext>
            </a:extLst>
          </p:cNvPr>
          <p:cNvSpPr txBox="1"/>
          <p:nvPr/>
        </p:nvSpPr>
        <p:spPr>
          <a:xfrm>
            <a:off x="8509099" y="423773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Tasa de Rotación, NPS del Empleado.</a:t>
            </a:r>
            <a:endParaRPr/>
          </a:p>
        </p:txBody>
      </p:sp>
      <p:sp>
        <p:nvSpPr>
          <p:cNvPr id="29" name="Google Shape;226;p23">
            <a:extLst>
              <a:ext uri="{FF2B5EF4-FFF2-40B4-BE49-F238E27FC236}">
                <a16:creationId xmlns:a16="http://schemas.microsoft.com/office/drawing/2014/main" id="{8DD0B6D6-C8E1-984C-8528-659A010129A3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INDICADORES POR ROL</a:t>
            </a:r>
            <a:endParaRPr/>
          </a:p>
        </p:txBody>
      </p:sp>
      <p:sp>
        <p:nvSpPr>
          <p:cNvPr id="31" name="Google Shape;227;p23">
            <a:extLst>
              <a:ext uri="{FF2B5EF4-FFF2-40B4-BE49-F238E27FC236}">
                <a16:creationId xmlns:a16="http://schemas.microsoft.com/office/drawing/2014/main" id="{B5144D19-CACD-71E7-78CB-E141217B7258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43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93CFB-E8E6-22AC-0A8F-2D8806C9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8450ED92-B368-2381-3AC7-E81C9F2502A2}"/>
              </a:ext>
            </a:extLst>
          </p:cNvPr>
          <p:cNvSpPr txBox="1">
            <a:spLocks/>
          </p:cNvSpPr>
          <p:nvPr/>
        </p:nvSpPr>
        <p:spPr>
          <a:xfrm>
            <a:off x="382462" y="4493192"/>
            <a:ext cx="5283551" cy="584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04. POWER BI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El Motor de la Visualización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721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CB265-C260-8A7A-0CFC-AF6020E3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52B6265-8D67-F4EE-50A7-169300B1A03B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93A603B-32A1-995A-9CAD-4FEDED0BB14B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241;p25" descr="image.png">
            <a:extLst>
              <a:ext uri="{FF2B5EF4-FFF2-40B4-BE49-F238E27FC236}">
                <a16:creationId xmlns:a16="http://schemas.microsoft.com/office/drawing/2014/main" id="{D45FE60D-3B6E-8BBF-1322-D99786CF2F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523101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2;p25">
            <a:extLst>
              <a:ext uri="{FF2B5EF4-FFF2-40B4-BE49-F238E27FC236}">
                <a16:creationId xmlns:a16="http://schemas.microsoft.com/office/drawing/2014/main" id="{39691AEA-FBB3-9462-7B5E-ED9F621FDA2C}"/>
              </a:ext>
            </a:extLst>
          </p:cNvPr>
          <p:cNvSpPr txBox="1"/>
          <p:nvPr/>
        </p:nvSpPr>
        <p:spPr>
          <a:xfrm>
            <a:off x="1000125" y="2220913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Conexión a +100 fuentes de datos.</a:t>
            </a:r>
            <a:endParaRPr/>
          </a:p>
        </p:txBody>
      </p:sp>
      <p:sp>
        <p:nvSpPr>
          <p:cNvPr id="7" name="Google Shape;243;p25">
            <a:extLst>
              <a:ext uri="{FF2B5EF4-FFF2-40B4-BE49-F238E27FC236}">
                <a16:creationId xmlns:a16="http://schemas.microsoft.com/office/drawing/2014/main" id="{6EAF632E-F96D-9976-A220-912FB1DC6690}"/>
              </a:ext>
            </a:extLst>
          </p:cNvPr>
          <p:cNvSpPr txBox="1"/>
          <p:nvPr/>
        </p:nvSpPr>
        <p:spPr>
          <a:xfrm>
            <a:off x="1000125" y="2779019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Democratización:</a:t>
            </a: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Datos para todos, no solo IT.</a:t>
            </a:r>
            <a:endParaRPr/>
          </a:p>
        </p:txBody>
      </p:sp>
      <p:sp>
        <p:nvSpPr>
          <p:cNvPr id="9" name="Google Shape;244;p25">
            <a:extLst>
              <a:ext uri="{FF2B5EF4-FFF2-40B4-BE49-F238E27FC236}">
                <a16:creationId xmlns:a16="http://schemas.microsoft.com/office/drawing/2014/main" id="{01121B6E-0729-CF72-CA6D-A0FE36F26171}"/>
              </a:ext>
            </a:extLst>
          </p:cNvPr>
          <p:cNvSpPr txBox="1"/>
          <p:nvPr/>
        </p:nvSpPr>
        <p:spPr>
          <a:xfrm>
            <a:off x="1000125" y="3657105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Seguridad a nivel de fila (RLS).</a:t>
            </a:r>
            <a:endParaRPr/>
          </a:p>
        </p:txBody>
      </p:sp>
      <p:sp>
        <p:nvSpPr>
          <p:cNvPr id="11" name="Google Shape;245;p25">
            <a:extLst>
              <a:ext uri="{FF2B5EF4-FFF2-40B4-BE49-F238E27FC236}">
                <a16:creationId xmlns:a16="http://schemas.microsoft.com/office/drawing/2014/main" id="{4729460A-4823-723A-2647-9F317F2064A9}"/>
              </a:ext>
            </a:extLst>
          </p:cNvPr>
          <p:cNvSpPr txBox="1"/>
          <p:nvPr/>
        </p:nvSpPr>
        <p:spPr>
          <a:xfrm>
            <a:off x="1000125" y="4215210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Actualización en tiempo real.</a:t>
            </a:r>
            <a:endParaRPr/>
          </a:p>
        </p:txBody>
      </p:sp>
      <p:pic>
        <p:nvPicPr>
          <p:cNvPr id="14" name="Google Shape;246;p25" descr="image.png">
            <a:extLst>
              <a:ext uri="{FF2B5EF4-FFF2-40B4-BE49-F238E27FC236}">
                <a16:creationId xmlns:a16="http://schemas.microsoft.com/office/drawing/2014/main" id="{303B6615-7E81-0682-FF12-EC644B8E69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175" y="154305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47;p25">
            <a:extLst>
              <a:ext uri="{FF2B5EF4-FFF2-40B4-BE49-F238E27FC236}">
                <a16:creationId xmlns:a16="http://schemas.microsoft.com/office/drawing/2014/main" id="{52B3A353-3E52-472A-1CE8-39B03D8B0D41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¿QUÉ ES POWER BI?</a:t>
            </a:r>
            <a:endParaRPr/>
          </a:p>
        </p:txBody>
      </p:sp>
      <p:sp>
        <p:nvSpPr>
          <p:cNvPr id="19" name="Google Shape;248;p25">
            <a:extLst>
              <a:ext uri="{FF2B5EF4-FFF2-40B4-BE49-F238E27FC236}">
                <a16:creationId xmlns:a16="http://schemas.microsoft.com/office/drawing/2014/main" id="{4F3E0EEA-FA21-9B9D-0C22-61602213F11E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49;p25" descr="image.png">
            <a:extLst>
              <a:ext uri="{FF2B5EF4-FFF2-40B4-BE49-F238E27FC236}">
                <a16:creationId xmlns:a16="http://schemas.microsoft.com/office/drawing/2014/main" id="{2A432020-4BC6-C16E-25E6-D8E3A2869D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091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50;p25" descr="image.png">
            <a:extLst>
              <a:ext uri="{FF2B5EF4-FFF2-40B4-BE49-F238E27FC236}">
                <a16:creationId xmlns:a16="http://schemas.microsoft.com/office/drawing/2014/main" id="{C1344F92-2971-31A9-21BC-A0913D9891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901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1;p25" descr="image.png">
            <a:extLst>
              <a:ext uri="{FF2B5EF4-FFF2-40B4-BE49-F238E27FC236}">
                <a16:creationId xmlns:a16="http://schemas.microsoft.com/office/drawing/2014/main" id="{47FD6095-B47C-42C2-F634-1FCCAF1C52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5710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52;p25" descr="image.png">
            <a:extLst>
              <a:ext uri="{FF2B5EF4-FFF2-40B4-BE49-F238E27FC236}">
                <a16:creationId xmlns:a16="http://schemas.microsoft.com/office/drawing/2014/main" id="{8D186D7E-E882-D6E1-F7BA-85BF19D882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1521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476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295275" y="2273647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32013"/>
                </a:solidFill>
                <a:latin typeface="Montserrat"/>
                <a:ea typeface="Montserrat"/>
                <a:cs typeface="Montserrat"/>
                <a:sym typeface="Montserrat"/>
              </a:rPr>
              <a:t>DASHBOARDS QUE HABLAN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1809750" y="3349972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buen dashboard debe responder a una pregunta de negocio en </a:t>
            </a:r>
            <a:r>
              <a:rPr lang="en-US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menos de 5 segundos</a:t>
            </a:r>
            <a:r>
              <a:rPr lang="en-US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E8F36-D2A3-8B01-3921-05C5B9FB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FCDC3D1-37A1-8A5C-CB8C-A4A8C4D995FD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364E45-D1A2-6B32-0A36-D4FF38EF7089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265;p27" descr="image.png">
            <a:extLst>
              <a:ext uri="{FF2B5EF4-FFF2-40B4-BE49-F238E27FC236}">
                <a16:creationId xmlns:a16="http://schemas.microsoft.com/office/drawing/2014/main" id="{0A154312-93FE-1053-0141-CF96C9F8CE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763291"/>
            <a:ext cx="3492549" cy="222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66;p27" descr="image.png">
            <a:extLst>
              <a:ext uri="{FF2B5EF4-FFF2-40B4-BE49-F238E27FC236}">
                <a16:creationId xmlns:a16="http://schemas.microsoft.com/office/drawing/2014/main" id="{4261F4BA-FD6E-CAB4-DDC7-1CAD9391DF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2763291"/>
            <a:ext cx="3492549" cy="222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67;p27" descr="image.png">
            <a:extLst>
              <a:ext uri="{FF2B5EF4-FFF2-40B4-BE49-F238E27FC236}">
                <a16:creationId xmlns:a16="http://schemas.microsoft.com/office/drawing/2014/main" id="{8A4A8EF2-F365-0C59-2591-0D90AD3065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2763291"/>
            <a:ext cx="3492549" cy="222676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68;p27">
            <a:extLst>
              <a:ext uri="{FF2B5EF4-FFF2-40B4-BE49-F238E27FC236}">
                <a16:creationId xmlns:a16="http://schemas.microsoft.com/office/drawing/2014/main" id="{7EDFA06A-CFD5-3FE5-6ACD-43AD4469780A}"/>
              </a:ext>
            </a:extLst>
          </p:cNvPr>
          <p:cNvSpPr txBox="1"/>
          <p:nvPr/>
        </p:nvSpPr>
        <p:spPr>
          <a:xfrm>
            <a:off x="884236" y="3144291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SIMPLICIDAD</a:t>
            </a:r>
            <a:endParaRPr/>
          </a:p>
        </p:txBody>
      </p:sp>
      <p:sp>
        <p:nvSpPr>
          <p:cNvPr id="11" name="Google Shape;269;p27">
            <a:extLst>
              <a:ext uri="{FF2B5EF4-FFF2-40B4-BE49-F238E27FC236}">
                <a16:creationId xmlns:a16="http://schemas.microsoft.com/office/drawing/2014/main" id="{175278CF-4C1B-4E9C-E366-6CFCBF27C5BA}"/>
              </a:ext>
            </a:extLst>
          </p:cNvPr>
          <p:cNvSpPr txBox="1"/>
          <p:nvPr/>
        </p:nvSpPr>
        <p:spPr>
          <a:xfrm>
            <a:off x="952500" y="3591966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Elimina el ruido visual (chartjunk).</a:t>
            </a:r>
            <a:endParaRPr/>
          </a:p>
        </p:txBody>
      </p:sp>
      <p:sp>
        <p:nvSpPr>
          <p:cNvPr id="14" name="Google Shape;270;p27">
            <a:extLst>
              <a:ext uri="{FF2B5EF4-FFF2-40B4-BE49-F238E27FC236}">
                <a16:creationId xmlns:a16="http://schemas.microsoft.com/office/drawing/2014/main" id="{43E2CBB3-06F7-2CFC-DEC7-3DCDFA52A8AB}"/>
              </a:ext>
            </a:extLst>
          </p:cNvPr>
          <p:cNvSpPr txBox="1"/>
          <p:nvPr/>
        </p:nvSpPr>
        <p:spPr>
          <a:xfrm>
            <a:off x="4662535" y="3144291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/>
          </a:p>
        </p:txBody>
      </p:sp>
      <p:sp>
        <p:nvSpPr>
          <p:cNvPr id="17" name="Google Shape;271;p27">
            <a:extLst>
              <a:ext uri="{FF2B5EF4-FFF2-40B4-BE49-F238E27FC236}">
                <a16:creationId xmlns:a16="http://schemas.microsoft.com/office/drawing/2014/main" id="{361258C1-5587-4F68-ACCB-C0382BEB29EF}"/>
              </a:ext>
            </a:extLst>
          </p:cNvPr>
          <p:cNvSpPr txBox="1"/>
          <p:nvPr/>
        </p:nvSpPr>
        <p:spPr>
          <a:xfrm>
            <a:off x="4730799" y="3591966"/>
            <a:ext cx="273054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comparativas: ¿Es bueno o malo este número?</a:t>
            </a:r>
            <a:endParaRPr/>
          </a:p>
        </p:txBody>
      </p:sp>
      <p:sp>
        <p:nvSpPr>
          <p:cNvPr id="19" name="Google Shape;272;p27">
            <a:extLst>
              <a:ext uri="{FF2B5EF4-FFF2-40B4-BE49-F238E27FC236}">
                <a16:creationId xmlns:a16="http://schemas.microsoft.com/office/drawing/2014/main" id="{6B0494A4-E7AC-9CDB-0682-AC79BE6F073E}"/>
              </a:ext>
            </a:extLst>
          </p:cNvPr>
          <p:cNvSpPr txBox="1"/>
          <p:nvPr/>
        </p:nvSpPr>
        <p:spPr>
          <a:xfrm>
            <a:off x="8440835" y="3144291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JERARQUÍA</a:t>
            </a:r>
            <a:endParaRPr/>
          </a:p>
        </p:txBody>
      </p:sp>
      <p:sp>
        <p:nvSpPr>
          <p:cNvPr id="21" name="Google Shape;273;p27">
            <a:extLst>
              <a:ext uri="{FF2B5EF4-FFF2-40B4-BE49-F238E27FC236}">
                <a16:creationId xmlns:a16="http://schemas.microsoft.com/office/drawing/2014/main" id="{7680C5CD-B2F9-8B0E-0AD9-86A98E33D1B5}"/>
              </a:ext>
            </a:extLst>
          </p:cNvPr>
          <p:cNvSpPr txBox="1"/>
          <p:nvPr/>
        </p:nvSpPr>
        <p:spPr>
          <a:xfrm>
            <a:off x="8509099" y="3591966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 más importante va arriba a la izquierda.</a:t>
            </a:r>
            <a:endParaRPr/>
          </a:p>
        </p:txBody>
      </p:sp>
      <p:sp>
        <p:nvSpPr>
          <p:cNvPr id="23" name="Google Shape;274;p27">
            <a:extLst>
              <a:ext uri="{FF2B5EF4-FFF2-40B4-BE49-F238E27FC236}">
                <a16:creationId xmlns:a16="http://schemas.microsoft.com/office/drawing/2014/main" id="{C972D564-355A-B587-6345-5DAE9E320C6F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STORYTELLING CON DATOS</a:t>
            </a:r>
            <a:endParaRPr/>
          </a:p>
        </p:txBody>
      </p:sp>
      <p:sp>
        <p:nvSpPr>
          <p:cNvPr id="25" name="Google Shape;275;p27">
            <a:extLst>
              <a:ext uri="{FF2B5EF4-FFF2-40B4-BE49-F238E27FC236}">
                <a16:creationId xmlns:a16="http://schemas.microsoft.com/office/drawing/2014/main" id="{C32B5F62-ADA3-EE07-1389-1DFA477492A2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427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92EE-CAE5-5828-872D-E10F63EC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83FACCB4-5AA6-ED21-AA27-45215B4F3398}"/>
              </a:ext>
            </a:extLst>
          </p:cNvPr>
          <p:cNvSpPr txBox="1">
            <a:spLocks/>
          </p:cNvSpPr>
          <p:nvPr/>
        </p:nvSpPr>
        <p:spPr>
          <a:xfrm>
            <a:off x="382462" y="4166615"/>
            <a:ext cx="5283551" cy="584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05. INTELIGENCIA ARTIFICIAL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De los Datos a los Insights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0291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972C1-EBEE-90E0-C78C-B63724C6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58FC21A-1CA5-7C72-644B-0A71E64900FE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75B95F-D84F-4E79-FC0B-CF2FA0C5F492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289;p29" descr="image.png">
            <a:extLst>
              <a:ext uri="{FF2B5EF4-FFF2-40B4-BE49-F238E27FC236}">
                <a16:creationId xmlns:a16="http://schemas.microsoft.com/office/drawing/2014/main" id="{1909852E-56A8-EA8A-4A21-0E532AA46E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5240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90;p29">
            <a:extLst>
              <a:ext uri="{FF2B5EF4-FFF2-40B4-BE49-F238E27FC236}">
                <a16:creationId xmlns:a16="http://schemas.microsoft.com/office/drawing/2014/main" id="{78E7D836-CF44-1E58-2755-A77182DEDBB0}"/>
              </a:ext>
            </a:extLst>
          </p:cNvPr>
          <p:cNvSpPr txBox="1"/>
          <p:nvPr/>
        </p:nvSpPr>
        <p:spPr>
          <a:xfrm>
            <a:off x="571500" y="229084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ANALÍTICA DESCRIPTIVA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7" name="Google Shape;291;p29">
            <a:extLst>
              <a:ext uri="{FF2B5EF4-FFF2-40B4-BE49-F238E27FC236}">
                <a16:creationId xmlns:a16="http://schemas.microsoft.com/office/drawing/2014/main" id="{0FD49B57-60B3-4363-1C2D-63FEF8C4017B}"/>
              </a:ext>
            </a:extLst>
          </p:cNvPr>
          <p:cNvSpPr txBox="1"/>
          <p:nvPr/>
        </p:nvSpPr>
        <p:spPr>
          <a:xfrm>
            <a:off x="571500" y="2509922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¿Qué pasó? (Reportes históricos).</a:t>
            </a:r>
            <a:endParaRPr/>
          </a:p>
        </p:txBody>
      </p:sp>
      <p:sp>
        <p:nvSpPr>
          <p:cNvPr id="9" name="Google Shape;292;p29">
            <a:extLst>
              <a:ext uri="{FF2B5EF4-FFF2-40B4-BE49-F238E27FC236}">
                <a16:creationId xmlns:a16="http://schemas.microsoft.com/office/drawing/2014/main" id="{20893348-9245-9CFC-FD71-E26C2E452C9E}"/>
              </a:ext>
            </a:extLst>
          </p:cNvPr>
          <p:cNvSpPr txBox="1"/>
          <p:nvPr/>
        </p:nvSpPr>
        <p:spPr>
          <a:xfrm>
            <a:off x="571500" y="300135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ANALÍTICA PREDICTIVA (IA)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11" name="Google Shape;293;p29">
            <a:extLst>
              <a:ext uri="{FF2B5EF4-FFF2-40B4-BE49-F238E27FC236}">
                <a16:creationId xmlns:a16="http://schemas.microsoft.com/office/drawing/2014/main" id="{111177D7-B056-7A67-25C4-4C2352A03F4F}"/>
              </a:ext>
            </a:extLst>
          </p:cNvPr>
          <p:cNvSpPr txBox="1"/>
          <p:nvPr/>
        </p:nvSpPr>
        <p:spPr>
          <a:xfrm>
            <a:off x="571500" y="3220427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¿Qué va a pasar? (Modelos de tendencia).</a:t>
            </a:r>
            <a:endParaRPr/>
          </a:p>
        </p:txBody>
      </p:sp>
      <p:sp>
        <p:nvSpPr>
          <p:cNvPr id="14" name="Google Shape;294;p29">
            <a:extLst>
              <a:ext uri="{FF2B5EF4-FFF2-40B4-BE49-F238E27FC236}">
                <a16:creationId xmlns:a16="http://schemas.microsoft.com/office/drawing/2014/main" id="{AE548FC7-2D82-96E4-AE57-4DB60FCC02A7}"/>
              </a:ext>
            </a:extLst>
          </p:cNvPr>
          <p:cNvSpPr txBox="1"/>
          <p:nvPr/>
        </p:nvSpPr>
        <p:spPr>
          <a:xfrm>
            <a:off x="571500" y="371185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ANALÍTICA PRESCRIPTIVA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17" name="Google Shape;295;p29">
            <a:extLst>
              <a:ext uri="{FF2B5EF4-FFF2-40B4-BE49-F238E27FC236}">
                <a16:creationId xmlns:a16="http://schemas.microsoft.com/office/drawing/2014/main" id="{284380E8-AC68-B02A-D700-989B84967D77}"/>
              </a:ext>
            </a:extLst>
          </p:cNvPr>
          <p:cNvSpPr txBox="1"/>
          <p:nvPr/>
        </p:nvSpPr>
        <p:spPr>
          <a:xfrm>
            <a:off x="571500" y="3930932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¿Cómo podemos hacer que pase? (Optimización).</a:t>
            </a:r>
            <a:endParaRPr/>
          </a:p>
        </p:txBody>
      </p:sp>
      <p:pic>
        <p:nvPicPr>
          <p:cNvPr id="19" name="Google Shape;296;p29" descr="image.png">
            <a:extLst>
              <a:ext uri="{FF2B5EF4-FFF2-40B4-BE49-F238E27FC236}">
                <a16:creationId xmlns:a16="http://schemas.microsoft.com/office/drawing/2014/main" id="{58ED801E-3A50-CB29-CB77-1517AADD0E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175" y="154305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97;p29">
            <a:extLst>
              <a:ext uri="{FF2B5EF4-FFF2-40B4-BE49-F238E27FC236}">
                <a16:creationId xmlns:a16="http://schemas.microsoft.com/office/drawing/2014/main" id="{1A8F450D-E477-B51C-8421-55D4F1283B53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IA APLICADA AL NEGOCIO</a:t>
            </a:r>
            <a:endParaRPr/>
          </a:p>
        </p:txBody>
      </p:sp>
      <p:sp>
        <p:nvSpPr>
          <p:cNvPr id="23" name="Google Shape;298;p29">
            <a:extLst>
              <a:ext uri="{FF2B5EF4-FFF2-40B4-BE49-F238E27FC236}">
                <a16:creationId xmlns:a16="http://schemas.microsoft.com/office/drawing/2014/main" id="{C88E2555-B793-A76F-3CDD-82CE92C7A9D0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2753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BF994-FE48-C219-3519-9D6BF0BE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49AAEC3-FA89-9721-AD49-4EA113105305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9137DC8-7D0C-5494-BFDE-B0D12506AA36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3" name="Google Shape;304;p30">
            <a:extLst>
              <a:ext uri="{FF2B5EF4-FFF2-40B4-BE49-F238E27FC236}">
                <a16:creationId xmlns:a16="http://schemas.microsoft.com/office/drawing/2014/main" id="{9BF6E269-68DE-5621-385F-9587D4C63F31}"/>
              </a:ext>
            </a:extLst>
          </p:cNvPr>
          <p:cNvSpPr txBox="1"/>
          <p:nvPr/>
        </p:nvSpPr>
        <p:spPr>
          <a:xfrm>
            <a:off x="571500" y="2820738"/>
            <a:ext cx="3050083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E320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40%</a:t>
            </a:r>
            <a:endParaRPr dirty="0"/>
          </a:p>
        </p:txBody>
      </p:sp>
      <p:sp>
        <p:nvSpPr>
          <p:cNvPr id="5" name="Google Shape;305;p30">
            <a:extLst>
              <a:ext uri="{FF2B5EF4-FFF2-40B4-BE49-F238E27FC236}">
                <a16:creationId xmlns:a16="http://schemas.microsoft.com/office/drawing/2014/main" id="{FB2F6E70-6467-08D2-47F9-9261C2EAF52B}"/>
              </a:ext>
            </a:extLst>
          </p:cNvPr>
          <p:cNvSpPr txBox="1"/>
          <p:nvPr/>
        </p:nvSpPr>
        <p:spPr>
          <a:xfrm>
            <a:off x="3812083" y="3022718"/>
            <a:ext cx="7808416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Aumento</a:t>
            </a:r>
            <a:r>
              <a:rPr lang="en-US" sz="27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</a:t>
            </a:r>
            <a:r>
              <a:rPr lang="en-US" sz="27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velocidad</a:t>
            </a:r>
            <a:r>
              <a:rPr lang="en-US" sz="2700" b="0" i="0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2700" b="0" i="0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decisión</a:t>
            </a:r>
            <a:endParaRPr dirty="0">
              <a:solidFill>
                <a:srgbClr val="263247"/>
              </a:solidFill>
            </a:endParaRPr>
          </a:p>
        </p:txBody>
      </p:sp>
      <p:sp>
        <p:nvSpPr>
          <p:cNvPr id="7" name="Google Shape;306;p30">
            <a:extLst>
              <a:ext uri="{FF2B5EF4-FFF2-40B4-BE49-F238E27FC236}">
                <a16:creationId xmlns:a16="http://schemas.microsoft.com/office/drawing/2014/main" id="{A9CD44AA-07C1-FE6C-2D4C-EA4668522026}"/>
              </a:ext>
            </a:extLst>
          </p:cNvPr>
          <p:cNvSpPr txBox="1"/>
          <p:nvPr/>
        </p:nvSpPr>
        <p:spPr>
          <a:xfrm>
            <a:off x="3812083" y="3502689"/>
            <a:ext cx="7808416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IA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permite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procesar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variables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ojo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ignora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detectando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patrones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invisibles.</a:t>
            </a:r>
            <a:endParaRPr dirty="0"/>
          </a:p>
        </p:txBody>
      </p:sp>
      <p:sp>
        <p:nvSpPr>
          <p:cNvPr id="9" name="Google Shape;307;p30">
            <a:extLst>
              <a:ext uri="{FF2B5EF4-FFF2-40B4-BE49-F238E27FC236}">
                <a16:creationId xmlns:a16="http://schemas.microsoft.com/office/drawing/2014/main" id="{7132CCA3-DAD8-4255-C6FB-0867F6D5DD3E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IMPACTO DE LA IA</a:t>
            </a:r>
            <a:endParaRPr/>
          </a:p>
        </p:txBody>
      </p:sp>
      <p:sp>
        <p:nvSpPr>
          <p:cNvPr id="11" name="Google Shape;308;p30">
            <a:extLst>
              <a:ext uri="{FF2B5EF4-FFF2-40B4-BE49-F238E27FC236}">
                <a16:creationId xmlns:a16="http://schemas.microsoft.com/office/drawing/2014/main" id="{1F9693F0-C64D-7D06-E88F-36D72C632239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1038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1D5D-2BD5-F308-BA2F-B0841502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8AB7FA1-2CB4-FE5A-8419-05DF342D6450}"/>
              </a:ext>
            </a:extLst>
          </p:cNvPr>
          <p:cNvSpPr txBox="1">
            <a:spLocks/>
          </p:cNvSpPr>
          <p:nvPr/>
        </p:nvSpPr>
        <p:spPr>
          <a:xfrm>
            <a:off x="382462" y="4166615"/>
            <a:ext cx="5283551" cy="584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06. IA + POWER BI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La Sinergia Perfecta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0986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5D41C-8985-ABF3-5AF5-D1BD68C0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7752C19-CB75-9DEB-9F52-C48EF6FACDD9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D2E7E7-DB70-2D33-93AD-FD3D85DFF72E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5" name="Google Shape;289;p29" descr="image.png">
            <a:extLst>
              <a:ext uri="{FF2B5EF4-FFF2-40B4-BE49-F238E27FC236}">
                <a16:creationId xmlns:a16="http://schemas.microsoft.com/office/drawing/2014/main" id="{3B4A0C40-CDD5-EC41-0CE1-AB53FDDAEF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05637" y="1524000"/>
            <a:ext cx="5814863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CB3F15A-8469-CAAB-714B-E2C2E9FED3F5}"/>
              </a:ext>
            </a:extLst>
          </p:cNvPr>
          <p:cNvSpPr/>
          <p:nvPr/>
        </p:nvSpPr>
        <p:spPr>
          <a:xfrm>
            <a:off x="5868501" y="1556658"/>
            <a:ext cx="5772954" cy="3733800"/>
          </a:xfrm>
          <a:prstGeom prst="roundRect">
            <a:avLst>
              <a:gd name="adj" fmla="val 3061"/>
            </a:avLst>
          </a:prstGeom>
          <a:solidFill>
            <a:srgbClr val="1E15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A704EFB-2768-1E3E-E95D-618C3F711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65877" y="2107645"/>
            <a:ext cx="5178202" cy="2631826"/>
          </a:xfrm>
          <a:prstGeom prst="rect">
            <a:avLst/>
          </a:prstGeom>
        </p:spPr>
      </p:pic>
      <p:sp>
        <p:nvSpPr>
          <p:cNvPr id="18" name="Google Shape;307;p30">
            <a:extLst>
              <a:ext uri="{FF2B5EF4-FFF2-40B4-BE49-F238E27FC236}">
                <a16:creationId xmlns:a16="http://schemas.microsoft.com/office/drawing/2014/main" id="{B86A9B8C-2D9F-9504-BA03-C2A466D708B6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COPILOT EN POWER BI</a:t>
            </a:r>
            <a:endParaRPr dirty="0"/>
          </a:p>
        </p:txBody>
      </p:sp>
      <p:sp>
        <p:nvSpPr>
          <p:cNvPr id="20" name="Google Shape;308;p30">
            <a:extLst>
              <a:ext uri="{FF2B5EF4-FFF2-40B4-BE49-F238E27FC236}">
                <a16:creationId xmlns:a16="http://schemas.microsoft.com/office/drawing/2014/main" id="{62FCA8B4-2808-DA1D-AB33-805AC8485E84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23;p32">
            <a:extLst>
              <a:ext uri="{FF2B5EF4-FFF2-40B4-BE49-F238E27FC236}">
                <a16:creationId xmlns:a16="http://schemas.microsoft.com/office/drawing/2014/main" id="{51E30D6D-6DBF-359E-BF7D-4D03D593F833}"/>
              </a:ext>
            </a:extLst>
          </p:cNvPr>
          <p:cNvSpPr txBox="1"/>
          <p:nvPr/>
        </p:nvSpPr>
        <p:spPr>
          <a:xfrm>
            <a:off x="809625" y="222330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Generación de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mediante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1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lenguaje</a:t>
            </a:r>
            <a:r>
              <a:rPr lang="en-US" sz="1800" b="1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natural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24" name="Google Shape;324;p32">
            <a:extLst>
              <a:ext uri="{FF2B5EF4-FFF2-40B4-BE49-F238E27FC236}">
                <a16:creationId xmlns:a16="http://schemas.microsoft.com/office/drawing/2014/main" id="{327C5247-78AC-EECF-122A-DFDF6DD9F01F}"/>
              </a:ext>
            </a:extLst>
          </p:cNvPr>
          <p:cNvSpPr txBox="1"/>
          <p:nvPr/>
        </p:nvSpPr>
        <p:spPr>
          <a:xfrm>
            <a:off x="809625" y="3026553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Automatización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la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limpieza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(Power Query con IA).</a:t>
            </a:r>
            <a:endParaRPr dirty="0"/>
          </a:p>
        </p:txBody>
      </p:sp>
      <p:sp>
        <p:nvSpPr>
          <p:cNvPr id="26" name="Google Shape;325;p32">
            <a:extLst>
              <a:ext uri="{FF2B5EF4-FFF2-40B4-BE49-F238E27FC236}">
                <a16:creationId xmlns:a16="http://schemas.microsoft.com/office/drawing/2014/main" id="{96B5B476-0029-84CC-968D-1E009732F5A0}"/>
              </a:ext>
            </a:extLst>
          </p:cNvPr>
          <p:cNvSpPr txBox="1"/>
          <p:nvPr/>
        </p:nvSpPr>
        <p:spPr>
          <a:xfrm>
            <a:off x="809625" y="3797144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Narrativas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inteligentes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explican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gráficos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automáticamente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7245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80C82-429B-5E25-E193-37275AA6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A7A6E36-7348-BFCD-F2F0-339CE03E2736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224FF6F-2F6C-868F-1F9B-E6939CF81AEC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332;p33" descr="image.png">
            <a:extLst>
              <a:ext uri="{FF2B5EF4-FFF2-40B4-BE49-F238E27FC236}">
                <a16:creationId xmlns:a16="http://schemas.microsoft.com/office/drawing/2014/main" id="{CF964B4A-E023-310E-A7CB-E64B159E87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665"/>
          <a:stretch>
            <a:fillRect/>
          </a:stretch>
        </p:blipFill>
        <p:spPr>
          <a:xfrm>
            <a:off x="4036048" y="1377619"/>
            <a:ext cx="4898571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33;p33">
            <a:extLst>
              <a:ext uri="{FF2B5EF4-FFF2-40B4-BE49-F238E27FC236}">
                <a16:creationId xmlns:a16="http://schemas.microsoft.com/office/drawing/2014/main" id="{4B0B490A-66B5-4896-1E03-688E675662E9}"/>
              </a:ext>
            </a:extLst>
          </p:cNvPr>
          <p:cNvSpPr txBox="1"/>
          <p:nvPr/>
        </p:nvSpPr>
        <p:spPr>
          <a:xfrm>
            <a:off x="571500" y="1671368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Visualización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tendencias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pronósticos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(Forecasting) con un solo </a:t>
            </a:r>
            <a:r>
              <a:rPr lang="en-US" sz="1800" b="0" i="0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clic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8" name="Google Shape;334;p33">
            <a:extLst>
              <a:ext uri="{FF2B5EF4-FFF2-40B4-BE49-F238E27FC236}">
                <a16:creationId xmlns:a16="http://schemas.microsoft.com/office/drawing/2014/main" id="{E92EE235-182F-D962-D80A-AB337E71A06F}"/>
              </a:ext>
            </a:extLst>
          </p:cNvPr>
          <p:cNvSpPr txBox="1"/>
          <p:nvPr/>
        </p:nvSpPr>
        <p:spPr>
          <a:xfrm>
            <a:off x="571500" y="540067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Ejemplo</a:t>
            </a:r>
            <a:r>
              <a:rPr lang="en-US" sz="1800" b="0" i="1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en-US" sz="1800" b="0" i="1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Predicción</a:t>
            </a:r>
            <a:r>
              <a:rPr lang="en-US" sz="1800" b="0" i="1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1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demanda</a:t>
            </a:r>
            <a:r>
              <a:rPr lang="en-US" sz="1800" b="0" i="1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para </a:t>
            </a:r>
            <a:r>
              <a:rPr lang="en-US" sz="1800" b="0" i="1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optimización</a:t>
            </a:r>
            <a:r>
              <a:rPr lang="en-US" sz="1800" b="0" i="1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</a:t>
            </a:r>
            <a:r>
              <a:rPr lang="en-US" sz="1800" b="0" i="1" u="none" strike="noStrike" cap="none" dirty="0" err="1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inventarios</a:t>
            </a:r>
            <a:r>
              <a:rPr lang="en-US" sz="1800" b="0" i="1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11" name="Google Shape;335;p33">
            <a:extLst>
              <a:ext uri="{FF2B5EF4-FFF2-40B4-BE49-F238E27FC236}">
                <a16:creationId xmlns:a16="http://schemas.microsoft.com/office/drawing/2014/main" id="{F3D409D6-0394-15D1-02E3-787B6F383708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ANALÍTICA PREDICTIVA</a:t>
            </a:r>
            <a:endParaRPr/>
          </a:p>
        </p:txBody>
      </p:sp>
      <p:sp>
        <p:nvSpPr>
          <p:cNvPr id="16" name="Google Shape;336;p33">
            <a:extLst>
              <a:ext uri="{FF2B5EF4-FFF2-40B4-BE49-F238E27FC236}">
                <a16:creationId xmlns:a16="http://schemas.microsoft.com/office/drawing/2014/main" id="{54398C57-4117-3E14-CE31-6DB983DF86F3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602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F80F-2EFB-3F78-1C28-1ABC01F8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FC1656DC-16AD-1A75-4404-F8E0ECD78D1E}"/>
              </a:ext>
            </a:extLst>
          </p:cNvPr>
          <p:cNvSpPr txBox="1">
            <a:spLocks/>
          </p:cNvSpPr>
          <p:nvPr/>
        </p:nvSpPr>
        <p:spPr>
          <a:xfrm>
            <a:off x="382462" y="4166615"/>
            <a:ext cx="5283551" cy="584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4400" b="1" dirty="0">
                <a:latin typeface="+mj-lt"/>
              </a:rPr>
              <a:t>07. CASOS DE USO</a:t>
            </a:r>
          </a:p>
          <a:p>
            <a:pPr marL="0" indent="0">
              <a:buNone/>
            </a:pPr>
            <a:r>
              <a:rPr lang="es-419" sz="1800" dirty="0">
                <a:latin typeface="+mj-lt"/>
              </a:rPr>
              <a:t>Aplicación por industria</a:t>
            </a:r>
          </a:p>
          <a:p>
            <a:pPr marL="0" indent="0">
              <a:buNone/>
            </a:pPr>
            <a:endParaRPr lang="es-419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7517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991AE-35F8-2C51-BDFD-DFB40451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B0E1F57-438A-63F5-2940-2B5CAB36B715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E2C3020-80D5-23D6-07C2-9A40CACA24BA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3" name="Google Shape;350;p35" descr="image.png">
            <a:extLst>
              <a:ext uri="{FF2B5EF4-FFF2-40B4-BE49-F238E27FC236}">
                <a16:creationId xmlns:a16="http://schemas.microsoft.com/office/drawing/2014/main" id="{531E3651-1B35-1DC2-7084-661D0DAE6B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1922472"/>
            <a:ext cx="3492549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51;p35" descr="image.png">
            <a:extLst>
              <a:ext uri="{FF2B5EF4-FFF2-40B4-BE49-F238E27FC236}">
                <a16:creationId xmlns:a16="http://schemas.microsoft.com/office/drawing/2014/main" id="{CC5E87E1-BACC-EA23-56F1-1EFCE4B518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1922472"/>
            <a:ext cx="3492549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52;p35" descr="image.png">
            <a:extLst>
              <a:ext uri="{FF2B5EF4-FFF2-40B4-BE49-F238E27FC236}">
                <a16:creationId xmlns:a16="http://schemas.microsoft.com/office/drawing/2014/main" id="{B44FADD1-853E-78DB-F024-485EBB54AC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1922472"/>
            <a:ext cx="3492549" cy="351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53;p35" descr="image.png">
            <a:extLst>
              <a:ext uri="{FF2B5EF4-FFF2-40B4-BE49-F238E27FC236}">
                <a16:creationId xmlns:a16="http://schemas.microsoft.com/office/drawing/2014/main" id="{6514967E-3ACC-9295-DFC9-7868B3BFFC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303472"/>
            <a:ext cx="27305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54;p35">
            <a:extLst>
              <a:ext uri="{FF2B5EF4-FFF2-40B4-BE49-F238E27FC236}">
                <a16:creationId xmlns:a16="http://schemas.microsoft.com/office/drawing/2014/main" id="{A72E0B69-3B68-DCD5-8D1A-665932C75DD1}"/>
              </a:ext>
            </a:extLst>
          </p:cNvPr>
          <p:cNvSpPr txBox="1"/>
          <p:nvPr/>
        </p:nvSpPr>
        <p:spPr>
          <a:xfrm>
            <a:off x="884236" y="391319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LOGÍSTICA</a:t>
            </a:r>
            <a:endParaRPr/>
          </a:p>
        </p:txBody>
      </p:sp>
      <p:sp>
        <p:nvSpPr>
          <p:cNvPr id="19" name="Google Shape;355;p35">
            <a:extLst>
              <a:ext uri="{FF2B5EF4-FFF2-40B4-BE49-F238E27FC236}">
                <a16:creationId xmlns:a16="http://schemas.microsoft.com/office/drawing/2014/main" id="{35647CA8-724E-23EF-EFD3-09CC95C5480F}"/>
              </a:ext>
            </a:extLst>
          </p:cNvPr>
          <p:cNvSpPr txBox="1"/>
          <p:nvPr/>
        </p:nvSpPr>
        <p:spPr>
          <a:xfrm>
            <a:off x="952500" y="436087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Optimización de rutas y tiempos de entrega.</a:t>
            </a:r>
            <a:endParaRPr/>
          </a:p>
        </p:txBody>
      </p:sp>
      <p:pic>
        <p:nvPicPr>
          <p:cNvPr id="23" name="Google Shape;356;p35" descr="image.png">
            <a:extLst>
              <a:ext uri="{FF2B5EF4-FFF2-40B4-BE49-F238E27FC236}">
                <a16:creationId xmlns:a16="http://schemas.microsoft.com/office/drawing/2014/main" id="{869D55B8-3795-ED3F-3C27-DFFAF16F576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0799" y="2303472"/>
            <a:ext cx="27305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57;p35">
            <a:extLst>
              <a:ext uri="{FF2B5EF4-FFF2-40B4-BE49-F238E27FC236}">
                <a16:creationId xmlns:a16="http://schemas.microsoft.com/office/drawing/2014/main" id="{A8FAE117-4249-151A-B5E5-7817559446DE}"/>
              </a:ext>
            </a:extLst>
          </p:cNvPr>
          <p:cNvSpPr txBox="1"/>
          <p:nvPr/>
        </p:nvSpPr>
        <p:spPr>
          <a:xfrm>
            <a:off x="4662535" y="391319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SALUD</a:t>
            </a:r>
            <a:endParaRPr/>
          </a:p>
        </p:txBody>
      </p:sp>
      <p:sp>
        <p:nvSpPr>
          <p:cNvPr id="29" name="Google Shape;358;p35">
            <a:extLst>
              <a:ext uri="{FF2B5EF4-FFF2-40B4-BE49-F238E27FC236}">
                <a16:creationId xmlns:a16="http://schemas.microsoft.com/office/drawing/2014/main" id="{591B9940-8A6C-D489-5843-5EB015AC1FA2}"/>
              </a:ext>
            </a:extLst>
          </p:cNvPr>
          <p:cNvSpPr txBox="1"/>
          <p:nvPr/>
        </p:nvSpPr>
        <p:spPr>
          <a:xfrm>
            <a:off x="4730799" y="436087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Monitoreo clínico predictivo de pacientes.</a:t>
            </a:r>
            <a:endParaRPr/>
          </a:p>
        </p:txBody>
      </p:sp>
      <p:pic>
        <p:nvPicPr>
          <p:cNvPr id="31" name="Google Shape;359;p35" descr="image.png">
            <a:extLst>
              <a:ext uri="{FF2B5EF4-FFF2-40B4-BE49-F238E27FC236}">
                <a16:creationId xmlns:a16="http://schemas.microsoft.com/office/drawing/2014/main" id="{C532E0F7-ABF1-3DC6-58CE-A2F82F45C57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9099" y="2303472"/>
            <a:ext cx="27305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60;p35">
            <a:extLst>
              <a:ext uri="{FF2B5EF4-FFF2-40B4-BE49-F238E27FC236}">
                <a16:creationId xmlns:a16="http://schemas.microsoft.com/office/drawing/2014/main" id="{6B405A1F-A7F2-10CB-36A2-57644A44F8FA}"/>
              </a:ext>
            </a:extLst>
          </p:cNvPr>
          <p:cNvSpPr txBox="1"/>
          <p:nvPr/>
        </p:nvSpPr>
        <p:spPr>
          <a:xfrm>
            <a:off x="8440835" y="391319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/>
          </a:p>
        </p:txBody>
      </p:sp>
      <p:sp>
        <p:nvSpPr>
          <p:cNvPr id="35" name="Google Shape;361;p35">
            <a:extLst>
              <a:ext uri="{FF2B5EF4-FFF2-40B4-BE49-F238E27FC236}">
                <a16:creationId xmlns:a16="http://schemas.microsoft.com/office/drawing/2014/main" id="{12A98FB2-6081-F31C-CF41-6B119127AD14}"/>
              </a:ext>
            </a:extLst>
          </p:cNvPr>
          <p:cNvSpPr txBox="1"/>
          <p:nvPr/>
        </p:nvSpPr>
        <p:spPr>
          <a:xfrm>
            <a:off x="8509099" y="4360872"/>
            <a:ext cx="2730549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Detección temprana de deserción escolar.</a:t>
            </a:r>
            <a:endParaRPr/>
          </a:p>
        </p:txBody>
      </p:sp>
      <p:sp>
        <p:nvSpPr>
          <p:cNvPr id="37" name="Google Shape;362;p35">
            <a:extLst>
              <a:ext uri="{FF2B5EF4-FFF2-40B4-BE49-F238E27FC236}">
                <a16:creationId xmlns:a16="http://schemas.microsoft.com/office/drawing/2014/main" id="{E74FCDBB-DD0F-7419-2862-B8538958A54C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IMPACTO POR SECTOR</a:t>
            </a:r>
            <a:endParaRPr/>
          </a:p>
        </p:txBody>
      </p:sp>
      <p:sp>
        <p:nvSpPr>
          <p:cNvPr id="39" name="Google Shape;363;p35">
            <a:extLst>
              <a:ext uri="{FF2B5EF4-FFF2-40B4-BE49-F238E27FC236}">
                <a16:creationId xmlns:a16="http://schemas.microsoft.com/office/drawing/2014/main" id="{405D2642-25E6-F2BE-9B42-9A38F3BC0BE5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74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727B5-B2E5-CE90-E04D-15A96A8E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662B167-846E-EB50-92BD-965B9C7BC000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2371FC8-7289-6014-7E8E-44C119FD3F14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4" name="Google Shape;369;p36">
            <a:extLst>
              <a:ext uri="{FF2B5EF4-FFF2-40B4-BE49-F238E27FC236}">
                <a16:creationId xmlns:a16="http://schemas.microsoft.com/office/drawing/2014/main" id="{E2E663C1-A552-4EC5-C32B-F0F2B44F31BE}"/>
              </a:ext>
            </a:extLst>
          </p:cNvPr>
          <p:cNvSpPr txBox="1"/>
          <p:nvPr/>
        </p:nvSpPr>
        <p:spPr>
          <a:xfrm>
            <a:off x="1524000" y="2493764"/>
            <a:ext cx="9144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 </a:t>
            </a:r>
            <a:r>
              <a:rPr lang="en-US" sz="3600" b="0" i="1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datos</a:t>
            </a: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3600" b="0" i="1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eres</a:t>
            </a: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solo </a:t>
            </a:r>
            <a:r>
              <a:rPr lang="en-US" sz="3600" b="0" i="1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otra</a:t>
            </a: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persona con </a:t>
            </a:r>
            <a:r>
              <a:rPr lang="en-US" sz="3600" b="0" i="1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una</a:t>
            </a: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1" u="none" strike="noStrike" cap="none" dirty="0" err="1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opinión</a:t>
            </a:r>
            <a:r>
              <a:rPr lang="en-US" sz="3600" b="0" i="1" u="none" strike="noStrike" cap="none" dirty="0">
                <a:solidFill>
                  <a:srgbClr val="26324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  <p:sp>
        <p:nvSpPr>
          <p:cNvPr id="7" name="Google Shape;370;p36">
            <a:extLst>
              <a:ext uri="{FF2B5EF4-FFF2-40B4-BE49-F238E27FC236}">
                <a16:creationId xmlns:a16="http://schemas.microsoft.com/office/drawing/2014/main" id="{DBCAB3D9-BFC8-4184-72FF-B7952F9A3D84}"/>
              </a:ext>
            </a:extLst>
          </p:cNvPr>
          <p:cNvSpPr txBox="1"/>
          <p:nvPr/>
        </p:nvSpPr>
        <p:spPr>
          <a:xfrm>
            <a:off x="1524000" y="4059435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W. Edwards Deming</a:t>
            </a:r>
            <a:endParaRPr/>
          </a:p>
        </p:txBody>
      </p:sp>
      <p:sp>
        <p:nvSpPr>
          <p:cNvPr id="10" name="Google Shape;371;p36">
            <a:extLst>
              <a:ext uri="{FF2B5EF4-FFF2-40B4-BE49-F238E27FC236}">
                <a16:creationId xmlns:a16="http://schemas.microsoft.com/office/drawing/2014/main" id="{164C3391-42E2-7C2F-983E-6F19EBB2AD04}"/>
              </a:ext>
            </a:extLst>
          </p:cNvPr>
          <p:cNvSpPr txBox="1"/>
          <p:nvPr/>
        </p:nvSpPr>
        <p:spPr>
          <a:xfrm>
            <a:off x="952500" y="2112764"/>
            <a:ext cx="405854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 dirty="0">
                <a:solidFill>
                  <a:srgbClr val="E320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</a:t>
            </a:r>
            <a:endParaRPr dirty="0"/>
          </a:p>
        </p:txBody>
      </p:sp>
      <p:sp>
        <p:nvSpPr>
          <p:cNvPr id="14" name="Google Shape;371;p36">
            <a:extLst>
              <a:ext uri="{FF2B5EF4-FFF2-40B4-BE49-F238E27FC236}">
                <a16:creationId xmlns:a16="http://schemas.microsoft.com/office/drawing/2014/main" id="{B9A9EF51-2A93-A016-11B4-D9C754A2A939}"/>
              </a:ext>
            </a:extLst>
          </p:cNvPr>
          <p:cNvSpPr txBox="1"/>
          <p:nvPr/>
        </p:nvSpPr>
        <p:spPr>
          <a:xfrm>
            <a:off x="10262146" y="2737747"/>
            <a:ext cx="405854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 dirty="0">
                <a:solidFill>
                  <a:srgbClr val="E320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621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4ABFE-45D4-6A31-01DA-2ABD9F73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F32432C-68EF-6DD9-B20C-A5DB89AE1FEE}"/>
              </a:ext>
            </a:extLst>
          </p:cNvPr>
          <p:cNvSpPr/>
          <p:nvPr/>
        </p:nvSpPr>
        <p:spPr>
          <a:xfrm rot="19311513">
            <a:off x="-157024" y="5661219"/>
            <a:ext cx="1527707" cy="1565835"/>
          </a:xfrm>
          <a:custGeom>
            <a:avLst/>
            <a:gdLst>
              <a:gd name="csX0" fmla="*/ 0 w 2237014"/>
              <a:gd name="csY0" fmla="*/ 0 h 1551214"/>
              <a:gd name="csX1" fmla="*/ 2237014 w 2237014"/>
              <a:gd name="csY1" fmla="*/ 0 h 1551214"/>
              <a:gd name="csX2" fmla="*/ 2237014 w 2237014"/>
              <a:gd name="csY2" fmla="*/ 1551214 h 1551214"/>
              <a:gd name="csX3" fmla="*/ 0 w 2237014"/>
              <a:gd name="csY3" fmla="*/ 1551214 h 1551214"/>
              <a:gd name="csX4" fmla="*/ 0 w 2237014"/>
              <a:gd name="csY4" fmla="*/ 0 h 1551214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0 w 2237014"/>
              <a:gd name="csY4" fmla="*/ 1551214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2007 w 2237014"/>
              <a:gd name="csY4" fmla="*/ 763169 h 1553023"/>
              <a:gd name="csX5" fmla="*/ 0 w 2237014"/>
              <a:gd name="csY5" fmla="*/ 0 h 1553023"/>
              <a:gd name="csX0" fmla="*/ 0 w 2237014"/>
              <a:gd name="csY0" fmla="*/ 0 h 1553023"/>
              <a:gd name="csX1" fmla="*/ 2237014 w 2237014"/>
              <a:gd name="csY1" fmla="*/ 0 h 1553023"/>
              <a:gd name="csX2" fmla="*/ 2237014 w 2237014"/>
              <a:gd name="csY2" fmla="*/ 1551214 h 1553023"/>
              <a:gd name="csX3" fmla="*/ 1791861 w 2237014"/>
              <a:gd name="csY3" fmla="*/ 1552231 h 1553023"/>
              <a:gd name="csX4" fmla="*/ 823507 w 2237014"/>
              <a:gd name="csY4" fmla="*/ 775634 h 1553023"/>
              <a:gd name="csX5" fmla="*/ 0 w 2237014"/>
              <a:gd name="csY5" fmla="*/ 0 h 1553023"/>
              <a:gd name="csX0" fmla="*/ 439493 w 1413507"/>
              <a:gd name="csY0" fmla="*/ 0 h 1565835"/>
              <a:gd name="csX1" fmla="*/ 1413507 w 1413507"/>
              <a:gd name="csY1" fmla="*/ 12812 h 1565835"/>
              <a:gd name="csX2" fmla="*/ 1413507 w 1413507"/>
              <a:gd name="csY2" fmla="*/ 1564026 h 1565835"/>
              <a:gd name="csX3" fmla="*/ 968354 w 1413507"/>
              <a:gd name="csY3" fmla="*/ 1565043 h 1565835"/>
              <a:gd name="csX4" fmla="*/ 0 w 1413507"/>
              <a:gd name="csY4" fmla="*/ 788446 h 1565835"/>
              <a:gd name="csX5" fmla="*/ 439493 w 1413507"/>
              <a:gd name="csY5" fmla="*/ 0 h 1565835"/>
              <a:gd name="csX0" fmla="*/ 553693 w 1527707"/>
              <a:gd name="csY0" fmla="*/ 0 h 1565835"/>
              <a:gd name="csX1" fmla="*/ 1527707 w 1527707"/>
              <a:gd name="csY1" fmla="*/ 12812 h 1565835"/>
              <a:gd name="csX2" fmla="*/ 1527707 w 1527707"/>
              <a:gd name="csY2" fmla="*/ 1564026 h 1565835"/>
              <a:gd name="csX3" fmla="*/ 1082554 w 1527707"/>
              <a:gd name="csY3" fmla="*/ 1565043 h 1565835"/>
              <a:gd name="csX4" fmla="*/ 0 w 1527707"/>
              <a:gd name="csY4" fmla="*/ 732631 h 1565835"/>
              <a:gd name="csX5" fmla="*/ 553693 w 1527707"/>
              <a:gd name="csY5" fmla="*/ 0 h 1565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27707" h="1565835">
                <a:moveTo>
                  <a:pt x="553693" y="0"/>
                </a:moveTo>
                <a:lnTo>
                  <a:pt x="1527707" y="12812"/>
                </a:lnTo>
                <a:lnTo>
                  <a:pt x="1527707" y="1564026"/>
                </a:lnTo>
                <a:cubicBezTo>
                  <a:pt x="1197658" y="1560925"/>
                  <a:pt x="1412603" y="1568144"/>
                  <a:pt x="1082554" y="1565043"/>
                </a:cubicBezTo>
                <a:lnTo>
                  <a:pt x="0" y="732631"/>
                </a:lnTo>
                <a:lnTo>
                  <a:pt x="553693" y="0"/>
                </a:lnTo>
                <a:close/>
              </a:path>
            </a:pathLst>
          </a:custGeom>
          <a:solidFill>
            <a:srgbClr val="F6DD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BFB68F4-397C-EC44-CA1C-4A95A70117D1}"/>
              </a:ext>
            </a:extLst>
          </p:cNvPr>
          <p:cNvSpPr/>
          <p:nvPr/>
        </p:nvSpPr>
        <p:spPr>
          <a:xfrm rot="18939748">
            <a:off x="9671485" y="-848660"/>
            <a:ext cx="3166550" cy="4115562"/>
          </a:xfrm>
          <a:custGeom>
            <a:avLst/>
            <a:gdLst>
              <a:gd name="csX0" fmla="*/ 0 w 3521407"/>
              <a:gd name="csY0" fmla="*/ 0 h 4082746"/>
              <a:gd name="csX1" fmla="*/ 3521407 w 3521407"/>
              <a:gd name="csY1" fmla="*/ 0 h 4082746"/>
              <a:gd name="csX2" fmla="*/ 3521407 w 3521407"/>
              <a:gd name="csY2" fmla="*/ 4082746 h 4082746"/>
              <a:gd name="csX3" fmla="*/ 0 w 3521407"/>
              <a:gd name="csY3" fmla="*/ 4082746 h 4082746"/>
              <a:gd name="csX4" fmla="*/ 0 w 3521407"/>
              <a:gd name="csY4" fmla="*/ 0 h 4082746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521407 w 3521407"/>
              <a:gd name="csY2" fmla="*/ 17428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521407"/>
              <a:gd name="csY0" fmla="*/ 17428 h 4100174"/>
              <a:gd name="csX1" fmla="*/ 1222639 w 3521407"/>
              <a:gd name="csY1" fmla="*/ 0 h 4100174"/>
              <a:gd name="csX2" fmla="*/ 3166550 w 3521407"/>
              <a:gd name="csY2" fmla="*/ 1841094 h 4100174"/>
              <a:gd name="csX3" fmla="*/ 3521407 w 3521407"/>
              <a:gd name="csY3" fmla="*/ 4100174 h 4100174"/>
              <a:gd name="csX4" fmla="*/ 0 w 3521407"/>
              <a:gd name="csY4" fmla="*/ 4100174 h 4100174"/>
              <a:gd name="csX5" fmla="*/ 0 w 3521407"/>
              <a:gd name="csY5" fmla="*/ 17428 h 4100174"/>
              <a:gd name="csX0" fmla="*/ 0 w 3166550"/>
              <a:gd name="csY0" fmla="*/ 17428 h 4115562"/>
              <a:gd name="csX1" fmla="*/ 1222639 w 3166550"/>
              <a:gd name="csY1" fmla="*/ 0 h 4115562"/>
              <a:gd name="csX2" fmla="*/ 3166550 w 3166550"/>
              <a:gd name="csY2" fmla="*/ 1841094 h 4115562"/>
              <a:gd name="csX3" fmla="*/ 889986 w 3166550"/>
              <a:gd name="csY3" fmla="*/ 4115562 h 4115562"/>
              <a:gd name="csX4" fmla="*/ 0 w 3166550"/>
              <a:gd name="csY4" fmla="*/ 4100174 h 4115562"/>
              <a:gd name="csX5" fmla="*/ 0 w 3166550"/>
              <a:gd name="csY5" fmla="*/ 17428 h 4115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66550" h="4115562">
                <a:moveTo>
                  <a:pt x="0" y="17428"/>
                </a:moveTo>
                <a:lnTo>
                  <a:pt x="1222639" y="0"/>
                </a:lnTo>
                <a:lnTo>
                  <a:pt x="3166550" y="1841094"/>
                </a:lnTo>
                <a:lnTo>
                  <a:pt x="889986" y="4115562"/>
                </a:lnTo>
                <a:lnTo>
                  <a:pt x="0" y="4100174"/>
                </a:lnTo>
                <a:lnTo>
                  <a:pt x="0" y="17428"/>
                </a:lnTo>
                <a:close/>
              </a:path>
            </a:pathLst>
          </a:custGeom>
          <a:solidFill>
            <a:srgbClr val="EE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4" name="Google Shape;377;p37">
            <a:extLst>
              <a:ext uri="{FF2B5EF4-FFF2-40B4-BE49-F238E27FC236}">
                <a16:creationId xmlns:a16="http://schemas.microsoft.com/office/drawing/2014/main" id="{DB51D432-AA25-162A-D3BF-FC2727A10045}"/>
              </a:ext>
            </a:extLst>
          </p:cNvPr>
          <p:cNvSpPr txBox="1"/>
          <p:nvPr/>
        </p:nvSpPr>
        <p:spPr>
          <a:xfrm>
            <a:off x="6201965" y="2402705"/>
            <a:ext cx="555069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E32013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7" name="Google Shape;378;p37">
            <a:extLst>
              <a:ext uri="{FF2B5EF4-FFF2-40B4-BE49-F238E27FC236}">
                <a16:creationId xmlns:a16="http://schemas.microsoft.com/office/drawing/2014/main" id="{74C692A0-43A4-9EFA-4B7E-9A25EF5A7D7F}"/>
              </a:ext>
            </a:extLst>
          </p:cNvPr>
          <p:cNvSpPr txBox="1"/>
          <p:nvPr/>
        </p:nvSpPr>
        <p:spPr>
          <a:xfrm>
            <a:off x="6334125" y="2983730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¡Muchas gracias por su atención!</a:t>
            </a:r>
            <a:endParaRPr/>
          </a:p>
        </p:txBody>
      </p:sp>
      <p:sp>
        <p:nvSpPr>
          <p:cNvPr id="10" name="Google Shape;379;p37">
            <a:extLst>
              <a:ext uri="{FF2B5EF4-FFF2-40B4-BE49-F238E27FC236}">
                <a16:creationId xmlns:a16="http://schemas.microsoft.com/office/drawing/2014/main" id="{72C2F0CE-EECF-2541-1E2F-F32314942183}"/>
              </a:ext>
            </a:extLst>
          </p:cNvPr>
          <p:cNvSpPr txBox="1"/>
          <p:nvPr/>
        </p:nvSpPr>
        <p:spPr>
          <a:xfrm>
            <a:off x="1212398" y="2533331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Prioriza la calidad sobre la cantidad de datos.</a:t>
            </a:r>
            <a:endParaRPr/>
          </a:p>
        </p:txBody>
      </p:sp>
      <p:sp>
        <p:nvSpPr>
          <p:cNvPr id="14" name="Google Shape;380;p37">
            <a:extLst>
              <a:ext uri="{FF2B5EF4-FFF2-40B4-BE49-F238E27FC236}">
                <a16:creationId xmlns:a16="http://schemas.microsoft.com/office/drawing/2014/main" id="{29AE0214-C767-59F6-FB46-87441CD50B22}"/>
              </a:ext>
            </a:extLst>
          </p:cNvPr>
          <p:cNvSpPr txBox="1"/>
          <p:nvPr/>
        </p:nvSpPr>
        <p:spPr>
          <a:xfrm>
            <a:off x="1212398" y="3091437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 es el habilitador, la IA el acelerador.</a:t>
            </a:r>
            <a:endParaRPr/>
          </a:p>
        </p:txBody>
      </p:sp>
      <p:sp>
        <p:nvSpPr>
          <p:cNvPr id="18" name="Google Shape;381;p37">
            <a:extLst>
              <a:ext uri="{FF2B5EF4-FFF2-40B4-BE49-F238E27FC236}">
                <a16:creationId xmlns:a16="http://schemas.microsoft.com/office/drawing/2014/main" id="{67D71A11-BFFC-3A0C-0C2B-062781EFF041}"/>
              </a:ext>
            </a:extLst>
          </p:cNvPr>
          <p:cNvSpPr txBox="1"/>
          <p:nvPr/>
        </p:nvSpPr>
        <p:spPr>
          <a:xfrm>
            <a:off x="1212398" y="3649542"/>
            <a:ext cx="4857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 una cultura de datos en tu organización.</a:t>
            </a:r>
            <a:endParaRPr/>
          </a:p>
        </p:txBody>
      </p:sp>
      <p:sp>
        <p:nvSpPr>
          <p:cNvPr id="21" name="Google Shape;382;p37">
            <a:extLst>
              <a:ext uri="{FF2B5EF4-FFF2-40B4-BE49-F238E27FC236}">
                <a16:creationId xmlns:a16="http://schemas.microsoft.com/office/drawing/2014/main" id="{B15D4D99-DB59-9C37-F872-4D20DD48B805}"/>
              </a:ext>
            </a:extLst>
          </p:cNvPr>
          <p:cNvSpPr txBox="1"/>
          <p:nvPr/>
        </p:nvSpPr>
        <p:spPr>
          <a:xfrm>
            <a:off x="6334125" y="3684711"/>
            <a:ext cx="5286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nd.arellano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@outlook.com</a:t>
            </a:r>
            <a:endParaRPr dirty="0"/>
          </a:p>
        </p:txBody>
      </p:sp>
      <p:sp>
        <p:nvSpPr>
          <p:cNvPr id="24" name="Google Shape;383;p37">
            <a:extLst>
              <a:ext uri="{FF2B5EF4-FFF2-40B4-BE49-F238E27FC236}">
                <a16:creationId xmlns:a16="http://schemas.microsoft.com/office/drawing/2014/main" id="{0B430AF0-7CE1-86DC-4317-5E204BE7E740}"/>
              </a:ext>
            </a:extLst>
          </p:cNvPr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63247"/>
                </a:solidFill>
                <a:latin typeface="Montserrat"/>
                <a:ea typeface="Montserrat"/>
                <a:cs typeface="Montserrat"/>
                <a:sym typeface="Montserrat"/>
              </a:rPr>
              <a:t>CONCLUSIONES Y Q&amp;A</a:t>
            </a:r>
            <a:endParaRPr/>
          </a:p>
        </p:txBody>
      </p:sp>
      <p:sp>
        <p:nvSpPr>
          <p:cNvPr id="26" name="Google Shape;384;p37">
            <a:extLst>
              <a:ext uri="{FF2B5EF4-FFF2-40B4-BE49-F238E27FC236}">
                <a16:creationId xmlns:a16="http://schemas.microsoft.com/office/drawing/2014/main" id="{7BFB60B4-1AC0-23F4-629F-F2AF0C54707C}"/>
              </a:ext>
            </a:extLst>
          </p:cNvPr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320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85;p37" descr="image.png">
            <a:extLst>
              <a:ext uri="{FF2B5EF4-FFF2-40B4-BE49-F238E27FC236}">
                <a16:creationId xmlns:a16="http://schemas.microsoft.com/office/drawing/2014/main" id="{DD36581D-AD84-D440-D4EC-7530A74526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773" y="253333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86;p37" descr="image.png">
            <a:extLst>
              <a:ext uri="{FF2B5EF4-FFF2-40B4-BE49-F238E27FC236}">
                <a16:creationId xmlns:a16="http://schemas.microsoft.com/office/drawing/2014/main" id="{4D21C43A-14C5-90D5-5BD1-D3699CA51F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773" y="30914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7;p37" descr="image.png">
            <a:extLst>
              <a:ext uri="{FF2B5EF4-FFF2-40B4-BE49-F238E27FC236}">
                <a16:creationId xmlns:a16="http://schemas.microsoft.com/office/drawing/2014/main" id="{31A5AD87-656C-37B5-0CF6-593731A7A6B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773" y="364954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388;p37" descr="image.png">
            <a:extLst>
              <a:ext uri="{FF2B5EF4-FFF2-40B4-BE49-F238E27FC236}">
                <a16:creationId xmlns:a16="http://schemas.microsoft.com/office/drawing/2014/main" id="{EEE23A9A-E8EE-DA56-921B-3AAE426A40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3382" y="380445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369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5" id="{732B5677-405E-0942-9D23-E30A11E437AB}" vid="{1D6F5396-C1DF-5B4B-8EFC-27BD3AB0869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76</TotalTime>
  <Words>677</Words>
  <Application>Microsoft Office PowerPoint</Application>
  <PresentationFormat>Panorámica</PresentationFormat>
  <Paragraphs>115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Aptos</vt:lpstr>
      <vt:lpstr>Arial</vt:lpstr>
      <vt:lpstr>Arvo</vt:lpstr>
      <vt:lpstr>Calibri</vt:lpstr>
      <vt:lpstr>Calibri Light</vt:lpstr>
      <vt:lpstr>Montserrat</vt:lpstr>
      <vt:lpstr>Quattrocento Sans</vt:lpstr>
      <vt:lpstr>Tema de Office</vt:lpstr>
      <vt:lpstr>Presentación de PowerPoint</vt:lpstr>
      <vt:lpstr>MONITOREO Y EVALUACIÓN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Linda Natalia Velalcázar Rea</dc:creator>
  <cp:lastModifiedBy>EXTERNO ARELLANO MENA NAYELI</cp:lastModifiedBy>
  <cp:revision>2</cp:revision>
  <dcterms:created xsi:type="dcterms:W3CDTF">2023-02-09T21:56:35Z</dcterms:created>
  <dcterms:modified xsi:type="dcterms:W3CDTF">2026-06-27T11:25:33Z</dcterms:modified>
</cp:coreProperties>
</file>