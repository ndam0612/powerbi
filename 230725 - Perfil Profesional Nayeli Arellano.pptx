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17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3E8"/>
    <a:srgbClr val="263247"/>
    <a:srgbClr val="E7E7E7"/>
    <a:srgbClr val="DBDBDB"/>
    <a:srgbClr val="767171"/>
    <a:srgbClr val="4472C4"/>
    <a:srgbClr val="DA0711"/>
    <a:srgbClr val="CBCBCB"/>
    <a:srgbClr val="000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B9995-3153-48DA-BC30-5F5AE854D9F3}" v="12" dt="2025-07-28T14:22:50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 autoAdjust="0"/>
    <p:restoredTop sz="91206" autoAdjust="0"/>
  </p:normalViewPr>
  <p:slideViewPr>
    <p:cSldViewPr snapToGrid="0">
      <p:cViewPr varScale="1">
        <p:scale>
          <a:sx n="67" d="100"/>
          <a:sy n="67" d="100"/>
        </p:scale>
        <p:origin x="2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CB376-05D2-4D29-BA4D-D5859B44E24C}" type="datetimeFigureOut">
              <a:rPr lang="es-EC" smtClean="0"/>
              <a:t>26/6/2026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0F826-2A71-4A9B-81DB-08C51CB3AEB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492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F826-2A71-4A9B-81DB-08C51CB3AEBD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23463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17DA833-6211-AE0D-939C-F1FBDFCEA3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24330" y="0"/>
            <a:ext cx="6143339" cy="68580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758DD7D-C741-9C28-36B5-8A51CF97C3E8}"/>
              </a:ext>
            </a:extLst>
          </p:cNvPr>
          <p:cNvSpPr/>
          <p:nvPr userDrawn="1"/>
        </p:nvSpPr>
        <p:spPr>
          <a:xfrm>
            <a:off x="177799" y="198120"/>
            <a:ext cx="11836400" cy="6461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829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CB18B89-F368-029C-F3DC-DB0F62A42F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6088827"/>
            <a:ext cx="3315050" cy="63264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16B6023-510A-4169-021B-1906F62E2D11}"/>
              </a:ext>
            </a:extLst>
          </p:cNvPr>
          <p:cNvSpPr/>
          <p:nvPr userDrawn="1"/>
        </p:nvSpPr>
        <p:spPr>
          <a:xfrm>
            <a:off x="1030941" y="1194649"/>
            <a:ext cx="10036884" cy="3861995"/>
          </a:xfrm>
          <a:prstGeom prst="rect">
            <a:avLst/>
          </a:prstGeom>
          <a:solidFill>
            <a:srgbClr val="F9F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EFB4AC-F6C6-94CA-7A6E-48F43303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3" y="1956748"/>
            <a:ext cx="9911379" cy="1325563"/>
          </a:xfrm>
        </p:spPr>
        <p:txBody>
          <a:bodyPr>
            <a:normAutofit/>
          </a:bodyPr>
          <a:lstStyle>
            <a:lvl1pPr algn="ctr">
              <a:defRPr sz="4000">
                <a:latin typeface="+mj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C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EB6DB0C-7FC7-AF37-5D51-02287F1BE520}"/>
              </a:ext>
            </a:extLst>
          </p:cNvPr>
          <p:cNvCxnSpPr/>
          <p:nvPr userDrawn="1"/>
        </p:nvCxnSpPr>
        <p:spPr>
          <a:xfrm>
            <a:off x="1688951" y="3429000"/>
            <a:ext cx="8832028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769619-D575-E339-03DC-8336C82EF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3471" y="3589067"/>
            <a:ext cx="6122987" cy="10826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4798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F41E03-485D-6F87-4DBC-C78DDD8C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C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89D7C0F-95BF-7850-2E8B-CE5CBFFA8CC9}"/>
              </a:ext>
            </a:extLst>
          </p:cNvPr>
          <p:cNvGrpSpPr/>
          <p:nvPr userDrawn="1"/>
        </p:nvGrpSpPr>
        <p:grpSpPr>
          <a:xfrm>
            <a:off x="-31311" y="0"/>
            <a:ext cx="10872400" cy="6858000"/>
            <a:chOff x="-9795" y="0"/>
            <a:chExt cx="10872400" cy="6858000"/>
          </a:xfrm>
        </p:grpSpPr>
        <p:sp>
          <p:nvSpPr>
            <p:cNvPr id="8" name="Google Shape;24;p3">
              <a:extLst>
                <a:ext uri="{FF2B5EF4-FFF2-40B4-BE49-F238E27FC236}">
                  <a16:creationId xmlns:a16="http://schemas.microsoft.com/office/drawing/2014/main" id="{2209B550-07F5-9667-DCBF-229FB0CE4AF2}"/>
                </a:ext>
              </a:extLst>
            </p:cNvPr>
            <p:cNvSpPr/>
            <p:nvPr userDrawn="1"/>
          </p:nvSpPr>
          <p:spPr>
            <a:xfrm>
              <a:off x="7130047" y="3257097"/>
              <a:ext cx="1113838" cy="371280"/>
            </a:xfrm>
            <a:prstGeom prst="triangle">
              <a:avLst>
                <a:gd name="adj" fmla="val 32425"/>
              </a:avLst>
            </a:prstGeom>
            <a:solidFill>
              <a:srgbClr val="DA07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9" name="Google Shape;25;p3">
              <a:extLst>
                <a:ext uri="{FF2B5EF4-FFF2-40B4-BE49-F238E27FC236}">
                  <a16:creationId xmlns:a16="http://schemas.microsoft.com/office/drawing/2014/main" id="{AAE351BA-1304-DE86-1C95-31B67AA85AB6}"/>
                </a:ext>
              </a:extLst>
            </p:cNvPr>
            <p:cNvGrpSpPr/>
            <p:nvPr userDrawn="1"/>
          </p:nvGrpSpPr>
          <p:grpSpPr>
            <a:xfrm>
              <a:off x="13089" y="0"/>
              <a:ext cx="10849516" cy="6858000"/>
              <a:chOff x="0" y="-7088"/>
              <a:chExt cx="8661398" cy="5150588"/>
            </a:xfrm>
            <a:solidFill>
              <a:srgbClr val="B8B6B7"/>
            </a:solidFill>
          </p:grpSpPr>
          <p:sp>
            <p:nvSpPr>
              <p:cNvPr id="13" name="Google Shape;26;p3">
                <a:extLst>
                  <a:ext uri="{FF2B5EF4-FFF2-40B4-BE49-F238E27FC236}">
                    <a16:creationId xmlns:a16="http://schemas.microsoft.com/office/drawing/2014/main" id="{5BDB2A72-93ED-D238-559E-4B3AADB73731}"/>
                  </a:ext>
                </a:extLst>
              </p:cNvPr>
              <p:cNvSpPr/>
              <p:nvPr/>
            </p:nvSpPr>
            <p:spPr>
              <a:xfrm>
                <a:off x="0" y="0"/>
                <a:ext cx="3525000" cy="51435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7;p3">
                <a:extLst>
                  <a:ext uri="{FF2B5EF4-FFF2-40B4-BE49-F238E27FC236}">
                    <a16:creationId xmlns:a16="http://schemas.microsoft.com/office/drawing/2014/main" id="{3B3F88CE-2224-4A71-DDA0-5506729CEC41}"/>
                  </a:ext>
                </a:extLst>
              </p:cNvPr>
              <p:cNvSpPr/>
              <p:nvPr/>
            </p:nvSpPr>
            <p:spPr>
              <a:xfrm rot="10800000" flipH="1">
                <a:off x="3517898" y="-7088"/>
                <a:ext cx="5143500" cy="5143500"/>
              </a:xfrm>
              <a:prstGeom prst="rtTriangl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" name="Google Shape;28;p3">
              <a:extLst>
                <a:ext uri="{FF2B5EF4-FFF2-40B4-BE49-F238E27FC236}">
                  <a16:creationId xmlns:a16="http://schemas.microsoft.com/office/drawing/2014/main" id="{3CEFCF14-0E20-56B1-890C-991EDC4EED30}"/>
                </a:ext>
              </a:extLst>
            </p:cNvPr>
            <p:cNvGrpSpPr/>
            <p:nvPr userDrawn="1"/>
          </p:nvGrpSpPr>
          <p:grpSpPr>
            <a:xfrm rot="10800000" flipH="1">
              <a:off x="-9795" y="3628377"/>
              <a:ext cx="8253680" cy="2539414"/>
              <a:chOff x="-9894852" y="-4493255"/>
              <a:chExt cx="21200407" cy="6522741"/>
            </a:xfrm>
            <a:solidFill>
              <a:srgbClr val="E32013"/>
            </a:solidFill>
          </p:grpSpPr>
          <p:sp>
            <p:nvSpPr>
              <p:cNvPr id="11" name="Google Shape;29;p3">
                <a:extLst>
                  <a:ext uri="{FF2B5EF4-FFF2-40B4-BE49-F238E27FC236}">
                    <a16:creationId xmlns:a16="http://schemas.microsoft.com/office/drawing/2014/main" id="{195A1ACE-948D-40ED-35EA-0DEF63C503F2}"/>
                  </a:ext>
                </a:extLst>
              </p:cNvPr>
              <p:cNvSpPr/>
              <p:nvPr/>
            </p:nvSpPr>
            <p:spPr>
              <a:xfrm>
                <a:off x="-9894852" y="-4493114"/>
                <a:ext cx="14685300" cy="6522600"/>
              </a:xfrm>
              <a:prstGeom prst="rect">
                <a:avLst/>
              </a:prstGeom>
              <a:solidFill>
                <a:srgbClr val="F9F3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" name="Google Shape;30;p3">
                <a:extLst>
                  <a:ext uri="{FF2B5EF4-FFF2-40B4-BE49-F238E27FC236}">
                    <a16:creationId xmlns:a16="http://schemas.microsoft.com/office/drawing/2014/main" id="{78FAEE62-AA7C-DA72-8763-4C38701DA431}"/>
                  </a:ext>
                </a:extLst>
              </p:cNvPr>
              <p:cNvSpPr/>
              <p:nvPr/>
            </p:nvSpPr>
            <p:spPr>
              <a:xfrm>
                <a:off x="4782956" y="-4493255"/>
                <a:ext cx="6522599" cy="6522600"/>
              </a:xfrm>
              <a:prstGeom prst="rtTriangle">
                <a:avLst/>
              </a:prstGeom>
              <a:solidFill>
                <a:srgbClr val="F9F3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DBD37BBF-378A-6FA6-D682-6BD1500262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6088827"/>
            <a:ext cx="3315050" cy="6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9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6">
            <a:extLst>
              <a:ext uri="{FF2B5EF4-FFF2-40B4-BE49-F238E27FC236}">
                <a16:creationId xmlns:a16="http://schemas.microsoft.com/office/drawing/2014/main" id="{D32336E2-CEAE-874B-42AA-C1F54980E328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rgbClr val="DA0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" name="Google Shape;84;p6">
            <a:extLst>
              <a:ext uri="{FF2B5EF4-FFF2-40B4-BE49-F238E27FC236}">
                <a16:creationId xmlns:a16="http://schemas.microsoft.com/office/drawing/2014/main" id="{DD514A48-2D7D-BE78-5717-CE319A86DA79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chemeClr val="bg1">
              <a:lumMod val="65000"/>
            </a:schemeClr>
          </a:solidFill>
        </p:grpSpPr>
        <p:sp>
          <p:nvSpPr>
            <p:cNvPr id="9" name="Google Shape;85;p6">
              <a:extLst>
                <a:ext uri="{FF2B5EF4-FFF2-40B4-BE49-F238E27FC236}">
                  <a16:creationId xmlns:a16="http://schemas.microsoft.com/office/drawing/2014/main" id="{5B1B42E7-E6EA-2C87-ED19-24D4C13C46D0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Google Shape;86;p6">
              <a:extLst>
                <a:ext uri="{FF2B5EF4-FFF2-40B4-BE49-F238E27FC236}">
                  <a16:creationId xmlns:a16="http://schemas.microsoft.com/office/drawing/2014/main" id="{CDE5856E-56C9-5C7E-0C73-6331942D4BD8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1" name="Google Shape;87;p6">
            <a:extLst>
              <a:ext uri="{FF2B5EF4-FFF2-40B4-BE49-F238E27FC236}">
                <a16:creationId xmlns:a16="http://schemas.microsoft.com/office/drawing/2014/main" id="{0C37E960-13EA-E801-7EBE-8AB1B8F36472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F9F3E8"/>
          </a:solidFill>
        </p:grpSpPr>
        <p:sp>
          <p:nvSpPr>
            <p:cNvPr id="12" name="Google Shape;88;p6">
              <a:extLst>
                <a:ext uri="{FF2B5EF4-FFF2-40B4-BE49-F238E27FC236}">
                  <a16:creationId xmlns:a16="http://schemas.microsoft.com/office/drawing/2014/main" id="{020A62D6-CAEE-7A03-5DC7-A89ACFA97D8C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3" name="Google Shape;89;p6">
              <a:extLst>
                <a:ext uri="{FF2B5EF4-FFF2-40B4-BE49-F238E27FC236}">
                  <a16:creationId xmlns:a16="http://schemas.microsoft.com/office/drawing/2014/main" id="{F32263FA-7491-227C-34CB-6F4CEC5FB4E1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4B9B0F0F-D18C-4648-9EC8-BD620FB1D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160" y="6356350"/>
            <a:ext cx="463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D732-866A-5440-9A9B-D23943A78209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47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6">
            <a:extLst>
              <a:ext uri="{FF2B5EF4-FFF2-40B4-BE49-F238E27FC236}">
                <a16:creationId xmlns:a16="http://schemas.microsoft.com/office/drawing/2014/main" id="{D32336E2-CEAE-874B-42AA-C1F54980E328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" name="Google Shape;84;p6">
            <a:extLst>
              <a:ext uri="{FF2B5EF4-FFF2-40B4-BE49-F238E27FC236}">
                <a16:creationId xmlns:a16="http://schemas.microsoft.com/office/drawing/2014/main" id="{DD514A48-2D7D-BE78-5717-CE319A86DA79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rgbClr val="F9F3E8"/>
          </a:solidFill>
        </p:grpSpPr>
        <p:sp>
          <p:nvSpPr>
            <p:cNvPr id="9" name="Google Shape;85;p6">
              <a:extLst>
                <a:ext uri="{FF2B5EF4-FFF2-40B4-BE49-F238E27FC236}">
                  <a16:creationId xmlns:a16="http://schemas.microsoft.com/office/drawing/2014/main" id="{5B1B42E7-E6EA-2C87-ED19-24D4C13C46D0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0" name="Google Shape;86;p6">
              <a:extLst>
                <a:ext uri="{FF2B5EF4-FFF2-40B4-BE49-F238E27FC236}">
                  <a16:creationId xmlns:a16="http://schemas.microsoft.com/office/drawing/2014/main" id="{CDE5856E-56C9-5C7E-0C73-6331942D4BD8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1" name="Google Shape;87;p6">
            <a:extLst>
              <a:ext uri="{FF2B5EF4-FFF2-40B4-BE49-F238E27FC236}">
                <a16:creationId xmlns:a16="http://schemas.microsoft.com/office/drawing/2014/main" id="{0C37E960-13EA-E801-7EBE-8AB1B8F36472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DA0711"/>
          </a:solidFill>
        </p:grpSpPr>
        <p:sp>
          <p:nvSpPr>
            <p:cNvPr id="12" name="Google Shape;88;p6">
              <a:extLst>
                <a:ext uri="{FF2B5EF4-FFF2-40B4-BE49-F238E27FC236}">
                  <a16:creationId xmlns:a16="http://schemas.microsoft.com/office/drawing/2014/main" id="{020A62D6-CAEE-7A03-5DC7-A89ACFA97D8C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3" name="Google Shape;89;p6">
              <a:extLst>
                <a:ext uri="{FF2B5EF4-FFF2-40B4-BE49-F238E27FC236}">
                  <a16:creationId xmlns:a16="http://schemas.microsoft.com/office/drawing/2014/main" id="{F32263FA-7491-227C-34CB-6F4CEC5FB4E1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4AD18B6A-38F4-4768-9A7A-AB7A1F472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160" y="6356350"/>
            <a:ext cx="463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D732-866A-5440-9A9B-D23943A78209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422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CB18B89-F368-029C-F3DC-DB0F62A42F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6088827"/>
            <a:ext cx="3315050" cy="632647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98A8F6F-AE7E-4B16-84D7-24CA2DE23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16" y="6356349"/>
            <a:ext cx="463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D732-866A-5440-9A9B-D23943A78209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166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199702-B488-35E7-9C36-ABFA8FEBB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8734" y="118338"/>
            <a:ext cx="3315050" cy="6326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C2167C-63C0-4212-8F6E-37A13D904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16" y="6356349"/>
            <a:ext cx="463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D732-866A-5440-9A9B-D23943A78209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686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2D94ED-5173-13E9-E40D-4EF7D988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00542"/>
            <a:ext cx="5259388" cy="437546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D6A67E-1BF9-D1B3-72F8-70BCE2271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08480"/>
            <a:ext cx="5022532" cy="43754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C229AC-5631-D38B-A590-E802FAA0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17C64-FCAB-2FD5-45B3-DAAA2453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6598AF-5B0D-1B4E-909A-D71CB99C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t>‹Nº›</a:t>
            </a:fld>
            <a:endParaRPr lang="es-EC"/>
          </a:p>
        </p:txBody>
      </p:sp>
      <p:sp>
        <p:nvSpPr>
          <p:cNvPr id="8" name="Google Shape;83;p6">
            <a:extLst>
              <a:ext uri="{FF2B5EF4-FFF2-40B4-BE49-F238E27FC236}">
                <a16:creationId xmlns:a16="http://schemas.microsoft.com/office/drawing/2014/main" id="{5DDC8DCE-36F8-9EF4-EB58-1D23A0AE84BB}"/>
              </a:ext>
            </a:extLst>
          </p:cNvPr>
          <p:cNvSpPr/>
          <p:nvPr userDrawn="1"/>
        </p:nvSpPr>
        <p:spPr>
          <a:xfrm>
            <a:off x="8816336" y="94597"/>
            <a:ext cx="1029236" cy="342945"/>
          </a:xfrm>
          <a:prstGeom prst="triangle">
            <a:avLst>
              <a:gd name="adj" fmla="val 32425"/>
            </a:avLst>
          </a:prstGeom>
          <a:solidFill>
            <a:srgbClr val="DA0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9" name="Google Shape;84;p6">
            <a:extLst>
              <a:ext uri="{FF2B5EF4-FFF2-40B4-BE49-F238E27FC236}">
                <a16:creationId xmlns:a16="http://schemas.microsoft.com/office/drawing/2014/main" id="{3A284FB3-269E-E301-BA5E-2D50DC22DA8F}"/>
              </a:ext>
            </a:extLst>
          </p:cNvPr>
          <p:cNvGrpSpPr/>
          <p:nvPr userDrawn="1"/>
        </p:nvGrpSpPr>
        <p:grpSpPr>
          <a:xfrm rot="10800000" flipH="1">
            <a:off x="-1" y="0"/>
            <a:ext cx="9395363" cy="1462688"/>
            <a:chOff x="-2168138" y="330075"/>
            <a:chExt cx="8650663" cy="1699506"/>
          </a:xfrm>
          <a:solidFill>
            <a:schemeClr val="bg1">
              <a:lumMod val="75000"/>
            </a:schemeClr>
          </a:solidFill>
        </p:grpSpPr>
        <p:sp>
          <p:nvSpPr>
            <p:cNvPr id="10" name="Google Shape;85;p6">
              <a:extLst>
                <a:ext uri="{FF2B5EF4-FFF2-40B4-BE49-F238E27FC236}">
                  <a16:creationId xmlns:a16="http://schemas.microsoft.com/office/drawing/2014/main" id="{2F9356E8-9C1E-CC36-2E79-A9AEF8C5DFBC}"/>
                </a:ext>
              </a:extLst>
            </p:cNvPr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1" name="Google Shape;86;p6">
              <a:extLst>
                <a:ext uri="{FF2B5EF4-FFF2-40B4-BE49-F238E27FC236}">
                  <a16:creationId xmlns:a16="http://schemas.microsoft.com/office/drawing/2014/main" id="{261AC62D-0070-0415-BC29-2F42CE6FD85D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2" name="Google Shape;87;p6">
            <a:extLst>
              <a:ext uri="{FF2B5EF4-FFF2-40B4-BE49-F238E27FC236}">
                <a16:creationId xmlns:a16="http://schemas.microsoft.com/office/drawing/2014/main" id="{C490471A-B14A-2E58-7B62-D18B935D4F72}"/>
              </a:ext>
            </a:extLst>
          </p:cNvPr>
          <p:cNvGrpSpPr/>
          <p:nvPr userDrawn="1"/>
        </p:nvGrpSpPr>
        <p:grpSpPr>
          <a:xfrm rot="10800000" flipH="1">
            <a:off x="0" y="437543"/>
            <a:ext cx="9869430" cy="850454"/>
            <a:chOff x="-9092084" y="330075"/>
            <a:chExt cx="15574609" cy="1699501"/>
          </a:xfrm>
          <a:solidFill>
            <a:srgbClr val="F9F3E8"/>
          </a:solidFill>
        </p:grpSpPr>
        <p:sp>
          <p:nvSpPr>
            <p:cNvPr id="13" name="Google Shape;88;p6">
              <a:extLst>
                <a:ext uri="{FF2B5EF4-FFF2-40B4-BE49-F238E27FC236}">
                  <a16:creationId xmlns:a16="http://schemas.microsoft.com/office/drawing/2014/main" id="{2B9A8ABB-EC5B-F0F6-42F1-B2B822D1C0BA}"/>
                </a:ext>
              </a:extLst>
            </p:cNvPr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E32013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4" name="Google Shape;89;p6">
              <a:extLst>
                <a:ext uri="{FF2B5EF4-FFF2-40B4-BE49-F238E27FC236}">
                  <a16:creationId xmlns:a16="http://schemas.microsoft.com/office/drawing/2014/main" id="{B50A590F-09CD-10C2-6823-AD243C7D301D}"/>
                </a:ext>
              </a:extLst>
            </p:cNvPr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55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F728E4-29FC-226B-A241-DE21948A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0B8105-C4C8-2161-E1F4-68E7CD74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DC1C8E-2083-F50C-A877-2D1C4D2B2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4A8BCB-8BE4-F489-6063-8726CA944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0C3393-8B94-889F-F29C-B85FDE607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7160" y="6356350"/>
            <a:ext cx="463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7D732-866A-5440-9A9B-D23943A78209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345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61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 de texto 2">
            <a:extLst>
              <a:ext uri="{FF2B5EF4-FFF2-40B4-BE49-F238E27FC236}">
                <a16:creationId xmlns:a16="http://schemas.microsoft.com/office/drawing/2014/main" id="{715CA37D-140B-46CD-8F71-5C490F240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932" y="1068303"/>
            <a:ext cx="7561250" cy="4580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>
            <a:defPPr rtl="0">
              <a:defRPr lang="es-es"/>
            </a:defPPr>
            <a:lvl1pPr marL="176213" lvl="0" indent="-176213" algn="just">
              <a:lnSpc>
                <a:spcPct val="90000"/>
              </a:lnSpc>
              <a:spcAft>
                <a:spcPts val="200"/>
              </a:spcAft>
              <a:buFont typeface="Symbol" panose="05050102010706020507" pitchFamily="18" charset="2"/>
              <a:buChar char=""/>
              <a:defRPr sz="160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l">
              <a:buNone/>
            </a:pPr>
            <a:r>
              <a:rPr lang="es-MX" sz="1400" b="1" dirty="0">
                <a:solidFill>
                  <a:schemeClr val="tx1"/>
                </a:solidFill>
              </a:rPr>
              <a:t>Nacionalidad: Ecuatoriana</a:t>
            </a:r>
            <a:br>
              <a:rPr lang="es-MX" sz="1400" b="1" dirty="0">
                <a:solidFill>
                  <a:schemeClr val="tx1"/>
                </a:solidFill>
              </a:rPr>
            </a:br>
            <a:endParaRPr lang="es-MX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MX" sz="1400" b="1" dirty="0">
                <a:solidFill>
                  <a:schemeClr val="tx1"/>
                </a:solidFill>
              </a:rPr>
              <a:t>Formación Académica:</a:t>
            </a:r>
          </a:p>
          <a:p>
            <a:r>
              <a:rPr lang="es-MX" sz="1400" dirty="0">
                <a:solidFill>
                  <a:schemeClr val="tx1"/>
                </a:solidFill>
              </a:rPr>
              <a:t>Ingeniería en Software – </a:t>
            </a:r>
            <a:r>
              <a:rPr lang="es-MX" sz="1400" i="1" dirty="0">
                <a:solidFill>
                  <a:schemeClr val="tx1"/>
                </a:solidFill>
              </a:rPr>
              <a:t>Universidad de las Fuerzas Armadas ESPE</a:t>
            </a:r>
            <a:endParaRPr lang="es-MX" sz="1400" dirty="0">
              <a:solidFill>
                <a:schemeClr val="tx1"/>
              </a:solidFill>
            </a:endParaRPr>
          </a:p>
          <a:p>
            <a:r>
              <a:rPr lang="es-MX" sz="1400" i="1" dirty="0">
                <a:solidFill>
                  <a:schemeClr val="tx1"/>
                </a:solidFill>
              </a:rPr>
              <a:t>Certificaciones Destacadas en Datos e IA: Power BI Data </a:t>
            </a:r>
            <a:r>
              <a:rPr lang="es-MX" sz="1400" i="1" dirty="0" err="1">
                <a:solidFill>
                  <a:schemeClr val="tx1"/>
                </a:solidFill>
              </a:rPr>
              <a:t>Analyst</a:t>
            </a:r>
            <a:r>
              <a:rPr lang="es-MX" sz="1400" i="1" dirty="0">
                <a:solidFill>
                  <a:schemeClr val="tx1"/>
                </a:solidFill>
              </a:rPr>
              <a:t> </a:t>
            </a:r>
            <a:r>
              <a:rPr lang="es-MX" sz="1400" i="1" dirty="0" err="1">
                <a:solidFill>
                  <a:schemeClr val="tx1"/>
                </a:solidFill>
              </a:rPr>
              <a:t>Associate</a:t>
            </a:r>
            <a:r>
              <a:rPr lang="es-MX" sz="1400" i="1" dirty="0">
                <a:solidFill>
                  <a:schemeClr val="tx1"/>
                </a:solidFill>
              </a:rPr>
              <a:t> (PL-300), Azure AI Engineer </a:t>
            </a:r>
            <a:r>
              <a:rPr lang="es-MX" sz="1400" i="1" dirty="0" err="1">
                <a:solidFill>
                  <a:schemeClr val="tx1"/>
                </a:solidFill>
              </a:rPr>
              <a:t>Associate</a:t>
            </a:r>
            <a:r>
              <a:rPr lang="es-MX" sz="1400" i="1" dirty="0">
                <a:solidFill>
                  <a:schemeClr val="tx1"/>
                </a:solidFill>
              </a:rPr>
              <a:t> (AI-102), Power </a:t>
            </a:r>
            <a:r>
              <a:rPr lang="es-MX" sz="1400" i="1" dirty="0" err="1">
                <a:solidFill>
                  <a:schemeClr val="tx1"/>
                </a:solidFill>
              </a:rPr>
              <a:t>Platform</a:t>
            </a:r>
            <a:r>
              <a:rPr lang="es-MX" sz="1400" i="1" dirty="0">
                <a:solidFill>
                  <a:schemeClr val="tx1"/>
                </a:solidFill>
              </a:rPr>
              <a:t> </a:t>
            </a:r>
            <a:r>
              <a:rPr lang="es-MX" sz="1400" i="1" dirty="0" err="1">
                <a:solidFill>
                  <a:schemeClr val="tx1"/>
                </a:solidFill>
              </a:rPr>
              <a:t>Developer</a:t>
            </a:r>
            <a:r>
              <a:rPr lang="es-MX" sz="1400" i="1" dirty="0">
                <a:solidFill>
                  <a:schemeClr val="tx1"/>
                </a:solidFill>
              </a:rPr>
              <a:t> &amp; RPA </a:t>
            </a:r>
            <a:r>
              <a:rPr lang="es-MX" sz="1400" i="1" dirty="0" err="1">
                <a:solidFill>
                  <a:schemeClr val="tx1"/>
                </a:solidFill>
              </a:rPr>
              <a:t>Developer</a:t>
            </a:r>
            <a:r>
              <a:rPr lang="es-MX" sz="1400" i="1" dirty="0">
                <a:solidFill>
                  <a:schemeClr val="tx1"/>
                </a:solidFill>
              </a:rPr>
              <a:t> (PL-400 / PL-500), Azure Data Fundamentals (DP-900). </a:t>
            </a:r>
          </a:p>
          <a:p>
            <a:endParaRPr lang="es-MX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MX" sz="1400" b="1" dirty="0">
                <a:solidFill>
                  <a:schemeClr val="tx1"/>
                </a:solidFill>
              </a:rPr>
              <a:t>Experiencia Profesional:</a:t>
            </a:r>
          </a:p>
          <a:p>
            <a:r>
              <a:rPr lang="es-419" sz="1400" dirty="0">
                <a:solidFill>
                  <a:schemeClr val="tx1"/>
                </a:solidFill>
              </a:rPr>
              <a:t>Analista de Datos, Automatización e IA en TATA </a:t>
            </a:r>
            <a:r>
              <a:rPr lang="es-419" sz="1400" dirty="0" err="1">
                <a:solidFill>
                  <a:schemeClr val="tx1"/>
                </a:solidFill>
              </a:rPr>
              <a:t>Consultancy</a:t>
            </a:r>
            <a:r>
              <a:rPr lang="es-419" sz="1400" dirty="0">
                <a:solidFill>
                  <a:schemeClr val="tx1"/>
                </a:solidFill>
              </a:rPr>
              <a:t> </a:t>
            </a:r>
            <a:r>
              <a:rPr lang="es-419" sz="1400" dirty="0" err="1">
                <a:solidFill>
                  <a:schemeClr val="tx1"/>
                </a:solidFill>
              </a:rPr>
              <a:t>Services</a:t>
            </a:r>
            <a:r>
              <a:rPr lang="es-419" sz="1400" dirty="0">
                <a:solidFill>
                  <a:schemeClr val="tx1"/>
                </a:solidFill>
              </a:rPr>
              <a:t> (TCS), brindando servicios a Banco </a:t>
            </a:r>
            <a:r>
              <a:rPr lang="es-419" sz="1400" dirty="0" err="1">
                <a:solidFill>
                  <a:schemeClr val="tx1"/>
                </a:solidFill>
              </a:rPr>
              <a:t>Pichicnha</a:t>
            </a:r>
            <a:r>
              <a:rPr lang="es-419" sz="1400" dirty="0">
                <a:solidFill>
                  <a:schemeClr val="tx1"/>
                </a:solidFill>
              </a:rPr>
              <a:t>, Banco Internacional.</a:t>
            </a:r>
          </a:p>
          <a:p>
            <a:r>
              <a:rPr lang="es-419" sz="1400" dirty="0">
                <a:solidFill>
                  <a:schemeClr val="tx1"/>
                </a:solidFill>
              </a:rPr>
              <a:t>Especialista en el diseño e implementación de modelos ETL, </a:t>
            </a:r>
            <a:r>
              <a:rPr lang="es-419" sz="1400" dirty="0" err="1">
                <a:solidFill>
                  <a:schemeClr val="tx1"/>
                </a:solidFill>
              </a:rPr>
              <a:t>dashboards</a:t>
            </a:r>
            <a:r>
              <a:rPr lang="es-419" sz="1400" dirty="0">
                <a:solidFill>
                  <a:schemeClr val="tx1"/>
                </a:solidFill>
              </a:rPr>
              <a:t> avanzados de analítica de datos y automatización de procesos (RPA) para las áreas de Ciberseguridad, Finanzas y Recursos Humanos. </a:t>
            </a:r>
          </a:p>
          <a:p>
            <a:r>
              <a:rPr lang="es-419" sz="1400" dirty="0">
                <a:solidFill>
                  <a:schemeClr val="tx1"/>
                </a:solidFill>
              </a:rPr>
              <a:t>Líder en el desarrollo de soluciones de Inteligencia Artificial aplicadas al negocio, incluyendo modelos predictivos para auditoría de datos y asistentes automáticos para optimización operativa. </a:t>
            </a:r>
          </a:p>
          <a:p>
            <a:r>
              <a:rPr lang="es-419" sz="1400" dirty="0">
                <a:solidFill>
                  <a:schemeClr val="tx1"/>
                </a:solidFill>
              </a:rPr>
              <a:t>Experiencia transversal en la gestión de indicadores críticos (KPI/KRI), control de niveles de servicio (SLA) y toma de decisiones ejecutivas basadas en datos. </a:t>
            </a:r>
            <a:endParaRPr lang="es-MX" sz="1400" dirty="0">
              <a:solidFill>
                <a:schemeClr val="tx1"/>
              </a:solidFill>
            </a:endParaRPr>
          </a:p>
          <a:p>
            <a:endParaRPr lang="es-MX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MX" sz="1400" b="1" dirty="0">
                <a:solidFill>
                  <a:schemeClr val="tx1"/>
                </a:solidFill>
              </a:rPr>
              <a:t>Reconocimientos Internacionales:</a:t>
            </a:r>
          </a:p>
          <a:p>
            <a:r>
              <a:rPr lang="es-MX" sz="1400" i="1" dirty="0">
                <a:solidFill>
                  <a:schemeClr val="tx1"/>
                </a:solidFill>
              </a:rPr>
              <a:t>Gurú de Power BI &amp; </a:t>
            </a:r>
            <a:r>
              <a:rPr lang="es-MX" sz="1400" i="1" dirty="0" err="1">
                <a:solidFill>
                  <a:schemeClr val="tx1"/>
                </a:solidFill>
              </a:rPr>
              <a:t>Faculty</a:t>
            </a:r>
            <a:r>
              <a:rPr lang="es-MX" sz="1400" i="1" dirty="0">
                <a:solidFill>
                  <a:schemeClr val="tx1"/>
                </a:solidFill>
              </a:rPr>
              <a:t> </a:t>
            </a:r>
            <a:r>
              <a:rPr lang="es-MX" sz="1400" i="1" dirty="0" err="1">
                <a:solidFill>
                  <a:schemeClr val="tx1"/>
                </a:solidFill>
              </a:rPr>
              <a:t>Recognition</a:t>
            </a:r>
            <a:r>
              <a:rPr lang="es-MX" sz="1400" i="1" dirty="0">
                <a:solidFill>
                  <a:schemeClr val="tx1"/>
                </a:solidFill>
              </a:rPr>
              <a:t> – Tata </a:t>
            </a:r>
            <a:r>
              <a:rPr lang="es-MX" sz="1400" i="1" dirty="0" err="1">
                <a:solidFill>
                  <a:schemeClr val="tx1"/>
                </a:solidFill>
              </a:rPr>
              <a:t>Consultancy</a:t>
            </a:r>
            <a:r>
              <a:rPr lang="es-MX" sz="1400" i="1" dirty="0">
                <a:solidFill>
                  <a:schemeClr val="tx1"/>
                </a:solidFill>
              </a:rPr>
              <a:t> Service, otorgado por la excelencia técnica y rol activo en la capacitación y líder.</a:t>
            </a:r>
            <a:endParaRPr lang="es-MX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ea"/>
              <a:cs typeface="+mn-cs"/>
            </a:endParaRPr>
          </a:p>
          <a:p>
            <a:pPr algn="l"/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ea"/>
              <a:cs typeface="+mn-cs"/>
            </a:endParaRPr>
          </a:p>
          <a:p>
            <a:endParaRPr lang="es-ES" sz="1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20AE0B6F-085C-412E-BE3A-B653644A5E74}"/>
              </a:ext>
            </a:extLst>
          </p:cNvPr>
          <p:cNvSpPr txBox="1">
            <a:spLocks/>
          </p:cNvSpPr>
          <p:nvPr/>
        </p:nvSpPr>
        <p:spPr>
          <a:xfrm>
            <a:off x="11325224" y="6340475"/>
            <a:ext cx="695325" cy="365125"/>
          </a:xfrm>
          <a:prstGeom prst="rect">
            <a:avLst/>
          </a:prstGeom>
        </p:spPr>
        <p:txBody>
          <a:bodyPr/>
          <a:lstStyle>
            <a:defPPr>
              <a:defRPr lang="es-EC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DD06B8-912F-41A1-9D76-EDF067BCB95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B10FFCD1-020B-4676-9252-22423A356DAD}"/>
              </a:ext>
            </a:extLst>
          </p:cNvPr>
          <p:cNvSpPr txBox="1">
            <a:spLocks/>
          </p:cNvSpPr>
          <p:nvPr/>
        </p:nvSpPr>
        <p:spPr>
          <a:xfrm>
            <a:off x="4251366" y="478077"/>
            <a:ext cx="6372450" cy="6283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C" sz="3200" dirty="0">
                <a:latin typeface="+mj-lt"/>
              </a:rPr>
              <a:t>Nayeli Dayana Arellano Mena</a:t>
            </a:r>
            <a:endParaRPr lang="es-EC" dirty="0">
              <a:latin typeface="+mj-lt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72313A9-F0B4-4247-9EFD-4889B21A5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A7D732-866A-5440-9A9B-D23943A78209}" type="slidenum">
              <a:rPr lang="es-EC" smtClean="0"/>
              <a:pPr/>
              <a:t>1</a:t>
            </a:fld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45FDFA-C158-7870-7140-82BD224D4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77030" y="1609811"/>
            <a:ext cx="3142649" cy="363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03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5" id="{732B5677-405E-0942-9D23-E30A11E437AB}" vid="{1D6F5396-C1DF-5B4B-8EFC-27BD3AB0869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4320</TotalTime>
  <Words>209</Words>
  <Application>Microsoft Office PowerPoint</Application>
  <PresentationFormat>Panorámica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Arvo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Linda Natalia Velalcázar Rea</dc:creator>
  <cp:lastModifiedBy>EXTERNO ARELLANO MENA NAYELI</cp:lastModifiedBy>
  <cp:revision>92</cp:revision>
  <dcterms:created xsi:type="dcterms:W3CDTF">2023-02-09T21:56:35Z</dcterms:created>
  <dcterms:modified xsi:type="dcterms:W3CDTF">2026-06-26T23:42:39Z</dcterms:modified>
</cp:coreProperties>
</file>